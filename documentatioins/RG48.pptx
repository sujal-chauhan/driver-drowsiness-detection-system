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83" r:id="rId12"/>
    <p:sldId id="266" r:id="rId13"/>
    <p:sldId id="267" r:id="rId14"/>
    <p:sldId id="268" r:id="rId15"/>
    <p:sldId id="269" r:id="rId16"/>
    <p:sldId id="270" r:id="rId17"/>
    <p:sldId id="271" r:id="rId18"/>
    <p:sldId id="272" r:id="rId19"/>
    <p:sldId id="286" r:id="rId20"/>
    <p:sldId id="297" r:id="rId21"/>
    <p:sldId id="287" r:id="rId22"/>
    <p:sldId id="296" r:id="rId23"/>
    <p:sldId id="295" r:id="rId24"/>
    <p:sldId id="288" r:id="rId25"/>
    <p:sldId id="273" r:id="rId26"/>
    <p:sldId id="277" r:id="rId27"/>
    <p:sldId id="278" r:id="rId28"/>
    <p:sldId id="289" r:id="rId29"/>
    <p:sldId id="294" r:id="rId30"/>
    <p:sldId id="290" r:id="rId31"/>
    <p:sldId id="292" r:id="rId32"/>
    <p:sldId id="279" r:id="rId33"/>
    <p:sldId id="280" r:id="rId34"/>
    <p:sldId id="281" r:id="rId35"/>
    <p:sldId id="282" r:id="rId36"/>
  </p:sldIdLst>
  <p:sldSz cx="9144000" cy="6858000" type="screen4x3"/>
  <p:notesSz cx="9942513" cy="6761163"/>
  <p:embeddedFontLst>
    <p:embeddedFont>
      <p:font typeface="Cardo" panose="020B0604020202020204" charset="-79"/>
      <p:regular r:id="rId38"/>
      <p:bold r:id="rId39"/>
      <p:italic r:id="rId40"/>
    </p:embeddedFont>
    <p:embeddedFont>
      <p:font typeface="Helvetica" panose="020B0604020202020204" pitchFamily="34" charset="0"/>
      <p:regular r:id="rId41"/>
      <p:bold r:id="rId42"/>
      <p:italic r:id="rId43"/>
      <p:boldItalic r:id="rId44"/>
    </p:embeddedFont>
    <p:embeddedFont>
      <p:font typeface="Helvetica Neue" panose="020B0604020202020204"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Tahoma" panose="020B0604030504040204" pitchFamily="34" charset="0"/>
      <p:regular r:id="rId53"/>
      <p:bold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A4A3A4"/>
          </p15:clr>
        </p15:guide>
        <p15:guide id="2" pos="521">
          <p15:clr>
            <a:srgbClr val="A4A3A4"/>
          </p15:clr>
        </p15:guide>
      </p15:sldGuideLst>
    </p:ext>
    <p:ext uri="{2D200454-40CA-4A62-9FC3-DE9A4176ACB9}">
      <p15:notesGuideLst xmlns:p15="http://schemas.microsoft.com/office/powerpoint/2012/main">
        <p15:guide id="1" orient="horz" pos="2130">
          <p15:clr>
            <a:srgbClr val="A4A3A4"/>
          </p15:clr>
        </p15:guide>
        <p15:guide id="2" pos="3133">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Vt+W/QM3IGKEn88pcWsmVxcFk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DD5067-7E9F-42BD-843D-25329A0267B5}">
  <a:tblStyle styleId="{65DD5067-7E9F-42BD-843D-25329A0267B5}" styleName="Table_0">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Helvetica"/>
          <a:ea typeface="Helvetica"/>
          <a:cs typeface="Helvetica"/>
        </a:font>
        <a:schemeClr val="lt1"/>
      </a:tcTxStyle>
      <a:tcStyle>
        <a:tcBdr/>
        <a:fill>
          <a:solidFill>
            <a:schemeClr val="accent4"/>
          </a:solidFill>
        </a:fill>
      </a:tcStyle>
    </a:lastCol>
    <a:firstCol>
      <a:tcTxStyle b="on" i="off">
        <a:font>
          <a:latin typeface="Helvetica"/>
          <a:ea typeface="Helvetica"/>
          <a:cs typeface="Helvetica"/>
        </a:font>
        <a:schemeClr val="lt1"/>
      </a:tcTxStyle>
      <a:tcStyle>
        <a:tcBdr/>
        <a:fill>
          <a:solidFill>
            <a:schemeClr val="accent4"/>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836" y="108"/>
      </p:cViewPr>
      <p:guideLst>
        <p:guide orient="horz" pos="816"/>
        <p:guide pos="521"/>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30"/>
        <p:guide pos="31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332288" cy="33337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4" name="Google Shape;4;n"/>
          <p:cNvSpPr txBox="1">
            <a:spLocks noGrp="1"/>
          </p:cNvSpPr>
          <p:nvPr>
            <p:ph type="dt" idx="10"/>
          </p:nvPr>
        </p:nvSpPr>
        <p:spPr>
          <a:xfrm>
            <a:off x="5635625" y="0"/>
            <a:ext cx="4333875" cy="33337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5" name="Google Shape;5;n"/>
          <p:cNvSpPr>
            <a:spLocks noGrp="1" noRot="1" noChangeAspect="1"/>
          </p:cNvSpPr>
          <p:nvPr>
            <p:ph type="sldImg" idx="3"/>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300163" y="3221038"/>
            <a:ext cx="7369175" cy="3051175"/>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00"/>
              </a:spcBef>
              <a:spcAft>
                <a:spcPts val="0"/>
              </a:spcAft>
              <a:buSzPts val="1400"/>
              <a:buNone/>
              <a:defRPr sz="1000" b="0" i="0" u="none" strike="noStrike" cap="none">
                <a:solidFill>
                  <a:srgbClr val="E36C0A"/>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438900"/>
            <a:ext cx="4332288" cy="3333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8" name="Google Shape;8;n"/>
          <p:cNvSpPr txBox="1">
            <a:spLocks noGrp="1"/>
          </p:cNvSpPr>
          <p:nvPr>
            <p:ph type="sldNum" idx="12"/>
          </p:nvPr>
        </p:nvSpPr>
        <p:spPr>
          <a:xfrm>
            <a:off x="5635625" y="6438900"/>
            <a:ext cx="4333875" cy="3333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a:t>
            </a:fld>
            <a:endParaRPr sz="1200" b="0" i="0" u="none" strike="noStrike" cap="none">
              <a:solidFill>
                <a:schemeClr val="dk1"/>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1: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 name="Google Shape;25;p1:notes"/>
          <p:cNvSpPr txBox="1">
            <a:spLocks noGrp="1"/>
          </p:cNvSpPr>
          <p:nvPr>
            <p:ph type="body" idx="1"/>
          </p:nvPr>
        </p:nvSpPr>
        <p:spPr>
          <a:xfrm>
            <a:off x="1300163" y="3221038"/>
            <a:ext cx="7369175" cy="305117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2: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7" name="Google Shape;37;p2:notes"/>
          <p:cNvSpPr txBox="1">
            <a:spLocks noGrp="1"/>
          </p:cNvSpPr>
          <p:nvPr>
            <p:ph type="body" idx="1"/>
          </p:nvPr>
        </p:nvSpPr>
        <p:spPr>
          <a:xfrm>
            <a:off x="1300163" y="3221038"/>
            <a:ext cx="7369175" cy="305117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38" name="Google Shape;38;p2:notes"/>
          <p:cNvSpPr txBox="1">
            <a:spLocks noGrp="1"/>
          </p:cNvSpPr>
          <p:nvPr>
            <p:ph type="sldNum" idx="12"/>
          </p:nvPr>
        </p:nvSpPr>
        <p:spPr>
          <a:xfrm>
            <a:off x="5635625" y="6438900"/>
            <a:ext cx="4333875" cy="3333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3: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44" name="Google Shape;44;p3: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4: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50" name="Google Shape;50;p4: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5: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56" name="Google Shape;56;p5: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6: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62" name="Google Shape;62;p6: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7: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69" name="Google Shape;69;p7: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8:notes"/>
          <p:cNvSpPr txBox="1">
            <a:spLocks noGrp="1"/>
          </p:cNvSpPr>
          <p:nvPr>
            <p:ph type="body" idx="1"/>
          </p:nvPr>
        </p:nvSpPr>
        <p:spPr>
          <a:xfrm>
            <a:off x="1300163" y="3221038"/>
            <a:ext cx="7369200" cy="3051300"/>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76" name="Google Shape;76;p8: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9: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83" name="Google Shape;83;p9: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83e1f94ecf_1_0:notes"/>
          <p:cNvSpPr txBox="1">
            <a:spLocks noGrp="1"/>
          </p:cNvSpPr>
          <p:nvPr>
            <p:ph type="body" idx="1"/>
          </p:nvPr>
        </p:nvSpPr>
        <p:spPr>
          <a:xfrm>
            <a:off x="1300163" y="3221038"/>
            <a:ext cx="7369200" cy="3051300"/>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90" name="Google Shape;90;g383e1f94ecf_1_0: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1: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97" name="Google Shape;97;p11: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2: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04" name="Google Shape;104;p12: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845852b172_0_4: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845852b172_0_4:notes"/>
          <p:cNvSpPr txBox="1">
            <a:spLocks noGrp="1"/>
          </p:cNvSpPr>
          <p:nvPr>
            <p:ph type="body" idx="1"/>
          </p:nvPr>
        </p:nvSpPr>
        <p:spPr>
          <a:xfrm>
            <a:off x="1300163" y="3221038"/>
            <a:ext cx="7369200" cy="3051300"/>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12" name="Google Shape;112;g3845852b172_0_4:notes"/>
          <p:cNvSpPr txBox="1">
            <a:spLocks noGrp="1"/>
          </p:cNvSpPr>
          <p:nvPr>
            <p:ph type="sldNum" idx="12"/>
          </p:nvPr>
        </p:nvSpPr>
        <p:spPr>
          <a:xfrm>
            <a:off x="5635625" y="6438900"/>
            <a:ext cx="4333800" cy="3333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845852b172_0_12: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845852b172_0_12:notes"/>
          <p:cNvSpPr txBox="1">
            <a:spLocks noGrp="1"/>
          </p:cNvSpPr>
          <p:nvPr>
            <p:ph type="body" idx="1"/>
          </p:nvPr>
        </p:nvSpPr>
        <p:spPr>
          <a:xfrm>
            <a:off x="1300163" y="3221038"/>
            <a:ext cx="7369200" cy="3051300"/>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19" name="Google Shape;119;g3845852b172_0_12:notes"/>
          <p:cNvSpPr txBox="1">
            <a:spLocks noGrp="1"/>
          </p:cNvSpPr>
          <p:nvPr>
            <p:ph type="sldNum" idx="12"/>
          </p:nvPr>
        </p:nvSpPr>
        <p:spPr>
          <a:xfrm>
            <a:off x="5635625" y="6438900"/>
            <a:ext cx="4333800" cy="3333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4: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25" name="Google Shape;125;p14: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845852b172_0_30:notes"/>
          <p:cNvSpPr txBox="1">
            <a:spLocks noGrp="1"/>
          </p:cNvSpPr>
          <p:nvPr>
            <p:ph type="body" idx="1"/>
          </p:nvPr>
        </p:nvSpPr>
        <p:spPr>
          <a:xfrm>
            <a:off x="1300163" y="3221038"/>
            <a:ext cx="7369200" cy="3051300"/>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31" name="Google Shape;131;g3845852b172_0_30: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6: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37" name="Google Shape;137;p16: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9: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45" name="Google Shape;145;p19: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2: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70" name="Google Shape;170;p22: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3: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77" name="Google Shape;177;p23: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5: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84" name="Google Shape;184;p25: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6: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90" name="Google Shape;190;p26: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7:notes"/>
          <p:cNvSpPr txBox="1">
            <a:spLocks noGrp="1"/>
          </p:cNvSpPr>
          <p:nvPr>
            <p:ph type="body" idx="1"/>
          </p:nvPr>
        </p:nvSpPr>
        <p:spPr>
          <a:xfrm>
            <a:off x="1300163" y="3221038"/>
            <a:ext cx="7369200" cy="3051300"/>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196" name="Google Shape;196;p27:notes"/>
          <p:cNvSpPr>
            <a:spLocks noGrp="1" noRot="1" noChangeAspect="1"/>
          </p:cNvSpPr>
          <p:nvPr>
            <p:ph type="sldImg" idx="2"/>
          </p:nvPr>
        </p:nvSpPr>
        <p:spPr>
          <a:xfrm>
            <a:off x="3230563" y="500063"/>
            <a:ext cx="3400500" cy="25512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8:notes"/>
          <p:cNvSpPr txBox="1">
            <a:spLocks noGrp="1"/>
          </p:cNvSpPr>
          <p:nvPr>
            <p:ph type="body" idx="1"/>
          </p:nvPr>
        </p:nvSpPr>
        <p:spPr>
          <a:xfrm>
            <a:off x="1300163" y="3221038"/>
            <a:ext cx="7369175" cy="3051175"/>
          </a:xfrm>
          <a:prstGeom prst="rect">
            <a:avLst/>
          </a:prstGeom>
        </p:spPr>
        <p:txBody>
          <a:bodyPr spcFirstLastPara="1" wrap="square" lIns="91425" tIns="45700" rIns="91425" bIns="45700" anchor="ctr" anchorCtr="0">
            <a:noAutofit/>
          </a:bodyPr>
          <a:lstStyle/>
          <a:p>
            <a:pPr marL="0" lvl="0" indent="0" algn="l" rtl="0">
              <a:spcBef>
                <a:spcPts val="300"/>
              </a:spcBef>
              <a:spcAft>
                <a:spcPts val="0"/>
              </a:spcAft>
              <a:buNone/>
            </a:pPr>
            <a:endParaRPr/>
          </a:p>
        </p:txBody>
      </p:sp>
      <p:sp>
        <p:nvSpPr>
          <p:cNvPr id="202" name="Google Shape;202;p28:notes"/>
          <p:cNvSpPr>
            <a:spLocks noGrp="1" noRot="1" noChangeAspect="1"/>
          </p:cNvSpPr>
          <p:nvPr>
            <p:ph type="sldImg" idx="2"/>
          </p:nvPr>
        </p:nvSpPr>
        <p:spPr>
          <a:xfrm>
            <a:off x="3230563" y="500063"/>
            <a:ext cx="3400425"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30"/>
          <p:cNvSpPr txBox="1">
            <a:spLocks noGrp="1"/>
          </p:cNvSpPr>
          <p:nvPr>
            <p:ph type="ctrTitle"/>
          </p:nvPr>
        </p:nvSpPr>
        <p:spPr>
          <a:xfrm>
            <a:off x="755373" y="685800"/>
            <a:ext cx="7901609" cy="1615966"/>
          </a:xfrm>
          <a:prstGeom prst="rect">
            <a:avLst/>
          </a:prstGeom>
          <a:solidFill>
            <a:srgbClr val="D2691E"/>
          </a:solidFill>
          <a:ln w="9525" cap="flat" cmpd="sng">
            <a:solidFill>
              <a:srgbClr val="D2691E"/>
            </a:solidFill>
            <a:prstDash val="solid"/>
            <a:round/>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31"/>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31"/>
          <p:cNvSpPr txBox="1">
            <a:spLocks noGrp="1"/>
          </p:cNvSpPr>
          <p:nvPr>
            <p:ph type="body" idx="1"/>
          </p:nvPr>
        </p:nvSpPr>
        <p:spPr>
          <a:xfrm>
            <a:off x="86197" y="782321"/>
            <a:ext cx="8953500" cy="5976288"/>
          </a:xfrm>
          <a:prstGeom prst="rect">
            <a:avLst/>
          </a:prstGeom>
          <a:noFill/>
          <a:ln>
            <a:noFill/>
          </a:ln>
        </p:spPr>
        <p:txBody>
          <a:bodyPr spcFirstLastPara="1" wrap="square" lIns="91425" tIns="45700" rIns="91425" bIns="45700" anchor="t" anchorCtr="0">
            <a:noAutofit/>
          </a:bodyPr>
          <a:lstStyle>
            <a:lvl1pPr marL="457200" lvl="0" indent="-371475" algn="just">
              <a:lnSpc>
                <a:spcPct val="150000"/>
              </a:lnSpc>
              <a:spcBef>
                <a:spcPts val="630"/>
              </a:spcBef>
              <a:spcAft>
                <a:spcPts val="0"/>
              </a:spcAft>
              <a:buSzPts val="2250"/>
              <a:buChar char="•"/>
              <a:defRPr sz="1800">
                <a:latin typeface="Helvetica Neue"/>
                <a:ea typeface="Helvetica Neue"/>
                <a:cs typeface="Helvetica Neue"/>
                <a:sym typeface="Helvetica Neue"/>
              </a:defRPr>
            </a:lvl1pPr>
            <a:lvl2pPr marL="914400" lvl="1" indent="-330200" algn="just">
              <a:lnSpc>
                <a:spcPct val="150000"/>
              </a:lnSpc>
              <a:spcBef>
                <a:spcPts val="560"/>
              </a:spcBef>
              <a:spcAft>
                <a:spcPts val="0"/>
              </a:spcAft>
              <a:buSzPts val="1600"/>
              <a:buChar char="o"/>
              <a:defRPr sz="1600">
                <a:latin typeface="Helvetica Neue"/>
                <a:ea typeface="Helvetica Neue"/>
                <a:cs typeface="Helvetica Neue"/>
                <a:sym typeface="Helvetica Neue"/>
              </a:defRPr>
            </a:lvl2pPr>
            <a:lvl3pPr marL="1371600" lvl="2" indent="-304800" algn="just">
              <a:lnSpc>
                <a:spcPct val="150000"/>
              </a:lnSpc>
              <a:spcBef>
                <a:spcPts val="560"/>
              </a:spcBef>
              <a:spcAft>
                <a:spcPts val="0"/>
              </a:spcAft>
              <a:buSzPts val="1200"/>
              <a:buChar char="4"/>
              <a:defRPr sz="1600">
                <a:latin typeface="Helvetica Neue"/>
                <a:ea typeface="Helvetica Neue"/>
                <a:cs typeface="Helvetica Neue"/>
                <a:sym typeface="Helvetica Neue"/>
              </a:defRPr>
            </a:lvl3pPr>
            <a:lvl4pPr marL="1828800" lvl="3" indent="-304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4pPr>
            <a:lvl5pPr marL="2286000" lvl="4" indent="-304800" algn="just">
              <a:lnSpc>
                <a:spcPct val="150000"/>
              </a:lnSpc>
              <a:spcBef>
                <a:spcPts val="560"/>
              </a:spcBef>
              <a:spcAft>
                <a:spcPts val="0"/>
              </a:spcAft>
              <a:buSzPts val="1200"/>
              <a:buFont typeface="Helvetica Neue"/>
              <a:buChar char="»"/>
              <a:defRPr sz="1600">
                <a:latin typeface="Helvetica Neue"/>
                <a:ea typeface="Helvetica Neue"/>
                <a:cs typeface="Helvetica Neue"/>
                <a:sym typeface="Helvetica Neue"/>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a:endParaRPr/>
          </a:p>
        </p:txBody>
      </p:sp>
      <p:cxnSp>
        <p:nvCxnSpPr>
          <p:cNvPr id="22" name="Google Shape;22;p31"/>
          <p:cNvCxnSpPr/>
          <p:nvPr/>
        </p:nvCxnSpPr>
        <p:spPr>
          <a:xfrm>
            <a:off x="579120" y="6658235"/>
            <a:ext cx="7934960" cy="0"/>
          </a:xfrm>
          <a:prstGeom prst="straightConnector1">
            <a:avLst/>
          </a:prstGeom>
          <a:solidFill>
            <a:schemeClr val="accent1"/>
          </a:solidFill>
          <a:ln w="9525" cap="flat" cmpd="sng">
            <a:solidFill>
              <a:srgbClr val="005493"/>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30480" y="27846"/>
            <a:ext cx="8328751"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chemeClr val="lt1"/>
                </a:solidFill>
                <a:latin typeface="Helvetica Neue"/>
                <a:ea typeface="Helvetica Neue"/>
                <a:cs typeface="Helvetica Neue"/>
                <a:sym typeface="Helvetica Neue"/>
              </a:defRPr>
            </a:lvl1pPr>
            <a:lvl2pPr marR="0" lvl="1"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2pPr>
            <a:lvl3pPr marR="0" lvl="2"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3pPr>
            <a:lvl4pPr marR="0" lvl="3"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4pPr>
            <a:lvl5pPr marR="0" lvl="4" algn="l" rtl="0">
              <a:spcBef>
                <a:spcPts val="0"/>
              </a:spcBef>
              <a:spcAft>
                <a:spcPts val="0"/>
              </a:spcAft>
              <a:buSzPts val="1400"/>
              <a:buNone/>
              <a:defRPr sz="2400" b="0" i="0" u="none" strike="noStrike" cap="none">
                <a:solidFill>
                  <a:schemeClr val="lt1"/>
                </a:solidFill>
                <a:latin typeface="Helvetica Neue"/>
                <a:ea typeface="Helvetica Neue"/>
                <a:cs typeface="Helvetica Neue"/>
                <a:sym typeface="Helvetica Neue"/>
              </a:defRPr>
            </a:lvl5pPr>
            <a:lvl6pPr marR="0" lvl="5" algn="ctr" rtl="0">
              <a:spcBef>
                <a:spcPts val="0"/>
              </a:spcBef>
              <a:spcAft>
                <a:spcPts val="0"/>
              </a:spcAft>
              <a:buSzPts val="1400"/>
              <a:buNone/>
              <a:defRPr sz="3200" b="1" i="0" u="none" strike="noStrike" cap="none">
                <a:solidFill>
                  <a:srgbClr val="006699"/>
                </a:solidFill>
                <a:latin typeface="Arial"/>
                <a:ea typeface="Arial"/>
                <a:cs typeface="Arial"/>
                <a:sym typeface="Arial"/>
              </a:defRPr>
            </a:lvl6pPr>
            <a:lvl7pPr marR="0" lvl="6" algn="ctr" rtl="0">
              <a:spcBef>
                <a:spcPts val="0"/>
              </a:spcBef>
              <a:spcAft>
                <a:spcPts val="0"/>
              </a:spcAft>
              <a:buSzPts val="1400"/>
              <a:buNone/>
              <a:defRPr sz="3200" b="1" i="0" u="none" strike="noStrike" cap="none">
                <a:solidFill>
                  <a:srgbClr val="006699"/>
                </a:solidFill>
                <a:latin typeface="Arial"/>
                <a:ea typeface="Arial"/>
                <a:cs typeface="Arial"/>
                <a:sym typeface="Arial"/>
              </a:defRPr>
            </a:lvl7pPr>
            <a:lvl8pPr marR="0" lvl="7" algn="ctr" rtl="0">
              <a:spcBef>
                <a:spcPts val="0"/>
              </a:spcBef>
              <a:spcAft>
                <a:spcPts val="0"/>
              </a:spcAft>
              <a:buSzPts val="1400"/>
              <a:buNone/>
              <a:defRPr sz="3200" b="1" i="0" u="none" strike="noStrike" cap="none">
                <a:solidFill>
                  <a:srgbClr val="006699"/>
                </a:solidFill>
                <a:latin typeface="Arial"/>
                <a:ea typeface="Arial"/>
                <a:cs typeface="Arial"/>
                <a:sym typeface="Arial"/>
              </a:defRPr>
            </a:lvl8pPr>
            <a:lvl9pPr marR="0" lvl="8" algn="ctr" rtl="0">
              <a:spcBef>
                <a:spcPts val="0"/>
              </a:spcBef>
              <a:spcAft>
                <a:spcPts val="0"/>
              </a:spcAft>
              <a:buSzPts val="1400"/>
              <a:buNone/>
              <a:defRPr sz="3200" b="1" i="0" u="none" strike="noStrike" cap="none">
                <a:solidFill>
                  <a:srgbClr val="006699"/>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6197" y="782321"/>
            <a:ext cx="8953500" cy="5831590"/>
          </a:xfrm>
          <a:prstGeom prst="rect">
            <a:avLst/>
          </a:prstGeom>
          <a:noFill/>
          <a:ln>
            <a:noFill/>
          </a:ln>
        </p:spPr>
        <p:txBody>
          <a:bodyPr spcFirstLastPara="1" wrap="square" lIns="91425" tIns="45700" rIns="91425" bIns="45700" anchor="t" anchorCtr="0">
            <a:noAutofit/>
          </a:bodyPr>
          <a:lstStyle>
            <a:lvl1pPr marL="457200" marR="0" lvl="0" indent="-371475" algn="just" rtl="0">
              <a:lnSpc>
                <a:spcPct val="150000"/>
              </a:lnSpc>
              <a:spcBef>
                <a:spcPts val="630"/>
              </a:spcBef>
              <a:spcAft>
                <a:spcPts val="0"/>
              </a:spcAft>
              <a:buClr>
                <a:schemeClr val="dk1"/>
              </a:buClr>
              <a:buSzPts val="2250"/>
              <a:buFont typeface="Arial"/>
              <a:buChar char="•"/>
              <a:defRPr sz="1800" b="0" i="0" u="none" strike="noStrike" cap="none">
                <a:solidFill>
                  <a:schemeClr val="dk1"/>
                </a:solidFill>
                <a:latin typeface="Helvetica Neue"/>
                <a:ea typeface="Helvetica Neue"/>
                <a:cs typeface="Helvetica Neue"/>
                <a:sym typeface="Helvetica Neue"/>
              </a:defRPr>
            </a:lvl1pPr>
            <a:lvl2pPr marL="914400" marR="0" lvl="1" indent="-330200" algn="just" rtl="0">
              <a:lnSpc>
                <a:spcPct val="150000"/>
              </a:lnSpc>
              <a:spcBef>
                <a:spcPts val="560"/>
              </a:spcBef>
              <a:spcAft>
                <a:spcPts val="0"/>
              </a:spcAft>
              <a:buClr>
                <a:schemeClr val="dk1"/>
              </a:buClr>
              <a:buSzPts val="1600"/>
              <a:buFont typeface="Courier New"/>
              <a:buChar char="o"/>
              <a:defRPr sz="1600" b="0" i="0" u="none" strike="noStrike" cap="none">
                <a:solidFill>
                  <a:schemeClr val="dk1"/>
                </a:solidFill>
                <a:latin typeface="Helvetica Neue"/>
                <a:ea typeface="Helvetica Neue"/>
                <a:cs typeface="Helvetica Neue"/>
                <a:sym typeface="Helvetica Neue"/>
              </a:defRPr>
            </a:lvl2pPr>
            <a:lvl3pPr marL="1371600" marR="0" lvl="2" indent="-304800" algn="just" rtl="0">
              <a:lnSpc>
                <a:spcPct val="150000"/>
              </a:lnSpc>
              <a:spcBef>
                <a:spcPts val="560"/>
              </a:spcBef>
              <a:spcAft>
                <a:spcPts val="0"/>
              </a:spcAft>
              <a:buClr>
                <a:srgbClr val="009900"/>
              </a:buClr>
              <a:buSzPts val="1200"/>
              <a:buFont typeface="Arimo"/>
              <a:buChar char="4"/>
              <a:defRPr sz="1600" b="0" i="0" u="none" strike="noStrike" cap="none">
                <a:solidFill>
                  <a:schemeClr val="dk1"/>
                </a:solidFill>
                <a:latin typeface="Helvetica Neue"/>
                <a:ea typeface="Helvetica Neue"/>
                <a:cs typeface="Helvetica Neue"/>
                <a:sym typeface="Helvetica Neue"/>
              </a:defRPr>
            </a:lvl3pPr>
            <a:lvl4pPr marL="1828800" marR="0" lvl="3" indent="-304800" algn="just" rtl="0">
              <a:lnSpc>
                <a:spcPct val="150000"/>
              </a:lnSpc>
              <a:spcBef>
                <a:spcPts val="560"/>
              </a:spcBef>
              <a:spcAft>
                <a:spcPts val="0"/>
              </a:spcAft>
              <a:buClr>
                <a:schemeClr val="hlink"/>
              </a:buClr>
              <a:buSzPts val="1200"/>
              <a:buFont typeface="Helvetica Neue"/>
              <a:buChar char="–"/>
              <a:defRPr sz="1600" b="0" i="0" u="none" strike="noStrike" cap="none">
                <a:solidFill>
                  <a:schemeClr val="dk1"/>
                </a:solidFill>
                <a:latin typeface="Helvetica Neue"/>
                <a:ea typeface="Helvetica Neue"/>
                <a:cs typeface="Helvetica Neue"/>
                <a:sym typeface="Helvetica Neue"/>
              </a:defRPr>
            </a:lvl4pPr>
            <a:lvl5pPr marL="2286000" marR="0" lvl="4" indent="-304800" algn="just" rtl="0">
              <a:lnSpc>
                <a:spcPct val="150000"/>
              </a:lnSpc>
              <a:spcBef>
                <a:spcPts val="560"/>
              </a:spcBef>
              <a:spcAft>
                <a:spcPts val="0"/>
              </a:spcAft>
              <a:buClr>
                <a:srgbClr val="FF0066"/>
              </a:buClr>
              <a:buSzPts val="1200"/>
              <a:buFont typeface="Helvetica Neue"/>
              <a:buChar char="»"/>
              <a:defRPr sz="1600" b="0" i="0" u="none" strike="noStrike" cap="none">
                <a:solidFill>
                  <a:schemeClr val="dk1"/>
                </a:solidFill>
                <a:latin typeface="Helvetica Neue"/>
                <a:ea typeface="Helvetica Neue"/>
                <a:cs typeface="Helvetica Neue"/>
                <a:sym typeface="Helvetica Neue"/>
              </a:defRPr>
            </a:lvl5pPr>
            <a:lvl6pPr marL="2743200" marR="0" lvl="5"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6pPr>
            <a:lvl7pPr marL="3200400" marR="0" lvl="6"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7pPr>
            <a:lvl8pPr marL="3657600" marR="0" lvl="7"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8pPr>
            <a:lvl9pPr marL="4114800" marR="0" lvl="8" indent="-314325" algn="l" rtl="0">
              <a:spcBef>
                <a:spcPts val="630"/>
              </a:spcBef>
              <a:spcAft>
                <a:spcPts val="0"/>
              </a:spcAft>
              <a:buClr>
                <a:srgbClr val="FF0066"/>
              </a:buClr>
              <a:buSzPts val="1350"/>
              <a:buFont typeface="Helvetica Neue"/>
              <a:buChar char="»"/>
              <a:defRPr sz="1800" b="0" i="0" u="none" strike="noStrike" cap="none">
                <a:solidFill>
                  <a:schemeClr val="dk1"/>
                </a:solidFill>
                <a:latin typeface="Helvetica Neue"/>
                <a:ea typeface="Helvetica Neue"/>
                <a:cs typeface="Helvetica Neue"/>
                <a:sym typeface="Helvetica Neue"/>
              </a:defRPr>
            </a:lvl9pPr>
          </a:lstStyle>
          <a:p>
            <a:endParaRPr/>
          </a:p>
        </p:txBody>
      </p:sp>
      <p:sp>
        <p:nvSpPr>
          <p:cNvPr id="12" name="Google Shape;12;p29"/>
          <p:cNvSpPr txBox="1"/>
          <p:nvPr/>
        </p:nvSpPr>
        <p:spPr>
          <a:xfrm>
            <a:off x="4259263" y="6126163"/>
            <a:ext cx="1928812" cy="24606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chemeClr val="lt1"/>
                </a:solidFill>
                <a:latin typeface="Helvetica Neue"/>
                <a:ea typeface="Helvetica Neue"/>
                <a:cs typeface="Helvetica Neue"/>
                <a:sym typeface="Helvetica Neue"/>
              </a:rPr>
              <a:t>Monday, September 8, 2025</a:t>
            </a:r>
            <a:endParaRPr sz="1000" b="1" i="0" u="none" strike="noStrike" cap="none">
              <a:solidFill>
                <a:schemeClr val="lt1"/>
              </a:solidFill>
              <a:latin typeface="Helvetica Neue"/>
              <a:ea typeface="Helvetica Neue"/>
              <a:cs typeface="Helvetica Neue"/>
              <a:sym typeface="Helvetica Neue"/>
            </a:endParaRPr>
          </a:p>
        </p:txBody>
      </p:sp>
      <p:pic>
        <p:nvPicPr>
          <p:cNvPr id="13" name="Google Shape;13;p29" descr="JUIT Office Photos | Glassdoor"/>
          <p:cNvPicPr preferRelativeResize="0"/>
          <p:nvPr/>
        </p:nvPicPr>
        <p:blipFill rotWithShape="1">
          <a:blip r:embed="rId4">
            <a:alphaModFix/>
          </a:blip>
          <a:srcRect/>
          <a:stretch/>
        </p:blipFill>
        <p:spPr>
          <a:xfrm>
            <a:off x="8349072" y="42901"/>
            <a:ext cx="815248" cy="679009"/>
          </a:xfrm>
          <a:prstGeom prst="rect">
            <a:avLst/>
          </a:prstGeom>
          <a:noFill/>
          <a:ln>
            <a:noFill/>
          </a:ln>
        </p:spPr>
      </p:pic>
      <p:sp>
        <p:nvSpPr>
          <p:cNvPr id="14" name="Google Shape;14;p29"/>
          <p:cNvSpPr txBox="1"/>
          <p:nvPr/>
        </p:nvSpPr>
        <p:spPr>
          <a:xfrm>
            <a:off x="123673" y="6687228"/>
            <a:ext cx="8694256" cy="195391"/>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950" b="0" i="0" u="none" strike="noStrike" cap="none">
                <a:solidFill>
                  <a:srgbClr val="002060"/>
                </a:solidFill>
                <a:latin typeface="Palatino"/>
                <a:ea typeface="Palatino"/>
                <a:cs typeface="Palatino"/>
                <a:sym typeface="Palatino"/>
              </a:rPr>
              <a:t>       </a:t>
            </a:r>
            <a:r>
              <a:rPr lang="en-US" sz="900" b="0" i="0" u="none" strike="noStrike" cap="none">
                <a:solidFill>
                  <a:srgbClr val="002060"/>
                </a:solidFill>
                <a:latin typeface="Palatino"/>
                <a:ea typeface="Palatino"/>
                <a:cs typeface="Palatino"/>
                <a:sym typeface="Palatino"/>
              </a:rPr>
              <a:t>Major Project – I (18B19CI791) Mid-Term Evaluation | Department of CSE &amp; IT | AY 2025-26. </a:t>
            </a:r>
            <a:endParaRPr/>
          </a:p>
        </p:txBody>
      </p:sp>
      <p:sp>
        <p:nvSpPr>
          <p:cNvPr id="15" name="Google Shape;15;p29"/>
          <p:cNvSpPr txBox="1"/>
          <p:nvPr/>
        </p:nvSpPr>
        <p:spPr>
          <a:xfrm>
            <a:off x="8798560" y="6613912"/>
            <a:ext cx="259243" cy="246062"/>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950" b="0" i="0" u="none" strike="noStrike" cap="none">
              <a:solidFill>
                <a:srgbClr val="002060"/>
              </a:solidFill>
              <a:latin typeface="Palatino"/>
              <a:ea typeface="Palatino"/>
              <a:cs typeface="Palatino"/>
              <a:sym typeface="Palatino"/>
            </a:endParaRPr>
          </a:p>
        </p:txBody>
      </p:sp>
      <p:sp>
        <p:nvSpPr>
          <p:cNvPr id="16" name="Google Shape;16;p29"/>
          <p:cNvSpPr txBox="1"/>
          <p:nvPr/>
        </p:nvSpPr>
        <p:spPr>
          <a:xfrm>
            <a:off x="8798560" y="6644391"/>
            <a:ext cx="365760" cy="2308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fld id="{00000000-1234-1234-1234-123412341234}" type="slidenum">
              <a:rPr lang="en-US" sz="900" b="0" i="0" u="none" strike="noStrike" cap="none">
                <a:solidFill>
                  <a:srgbClr val="005493"/>
                </a:solidFill>
                <a:latin typeface="Palatino"/>
                <a:ea typeface="Palatino"/>
                <a:cs typeface="Palatino"/>
                <a:sym typeface="Palatino"/>
              </a:rPr>
              <a:t>‹#›</a:t>
            </a:fld>
            <a:r>
              <a:rPr lang="en-US" sz="900" b="0" i="0" u="none" strike="noStrike" cap="none">
                <a:solidFill>
                  <a:srgbClr val="005493"/>
                </a:solidFill>
                <a:latin typeface="Palatino"/>
                <a:ea typeface="Palatino"/>
                <a:cs typeface="Palatino"/>
                <a:sym typeface="Palatino"/>
              </a:rPr>
              <a:t>.</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sujal-chauhan/Driver-Drowsiness-Detection-System.git"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kaggle.com/datasets/imadeddinedjerarda/mrl-eye-dataset"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1"/>
          <p:cNvSpPr txBox="1">
            <a:spLocks noGrp="1"/>
          </p:cNvSpPr>
          <p:nvPr>
            <p:ph type="ctrTitle"/>
          </p:nvPr>
        </p:nvSpPr>
        <p:spPr>
          <a:xfrm>
            <a:off x="0" y="3511380"/>
            <a:ext cx="9144000" cy="759871"/>
          </a:xfrm>
          <a:prstGeom prst="rect">
            <a:avLst/>
          </a:prstGeom>
          <a:solidFill>
            <a:srgbClr val="0037A4"/>
          </a:solidFill>
          <a:ln w="1905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0" lvl="0" indent="0" algn="ctr" rtl="0">
              <a:lnSpc>
                <a:spcPct val="150000"/>
              </a:lnSpc>
              <a:spcBef>
                <a:spcPts val="0"/>
              </a:spcBef>
              <a:spcAft>
                <a:spcPts val="0"/>
              </a:spcAft>
              <a:buNone/>
            </a:pPr>
            <a:r>
              <a:rPr lang="en-US" sz="2800"/>
              <a:t>Real Time Driver Drowsiness Detection System</a:t>
            </a:r>
            <a:endParaRPr sz="1400" b="1"/>
          </a:p>
        </p:txBody>
      </p:sp>
      <p:sp>
        <p:nvSpPr>
          <p:cNvPr id="28" name="Google Shape;28;p1"/>
          <p:cNvSpPr/>
          <p:nvPr/>
        </p:nvSpPr>
        <p:spPr>
          <a:xfrm>
            <a:off x="1457427" y="2108091"/>
            <a:ext cx="6229141" cy="1069524"/>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1" i="0" u="none" strike="noStrike" cap="none">
                <a:solidFill>
                  <a:schemeClr val="dk1"/>
                </a:solidFill>
                <a:latin typeface="Palatino"/>
                <a:ea typeface="Palatino"/>
                <a:cs typeface="Palatino"/>
                <a:sym typeface="Palatino"/>
              </a:rPr>
              <a:t>Major Project - I (18B19CI791) | AY 2025-26</a:t>
            </a:r>
            <a:endParaRPr/>
          </a:p>
          <a:p>
            <a:pPr marL="0" marR="0" lvl="0" indent="0" algn="ctr" rtl="0">
              <a:lnSpc>
                <a:spcPct val="150000"/>
              </a:lnSpc>
              <a:spcBef>
                <a:spcPts val="0"/>
              </a:spcBef>
              <a:spcAft>
                <a:spcPts val="0"/>
              </a:spcAft>
              <a:buNone/>
            </a:pPr>
            <a:r>
              <a:rPr lang="en-US" sz="2000" b="1" i="0" u="none" strike="noStrike" cap="none">
                <a:solidFill>
                  <a:schemeClr val="dk1"/>
                </a:solidFill>
                <a:latin typeface="Palatino"/>
                <a:ea typeface="Palatino"/>
                <a:cs typeface="Palatino"/>
                <a:sym typeface="Palatino"/>
              </a:rPr>
              <a:t>Mid-Term Evaluation | Sept 29 – Oct 03, 2025.</a:t>
            </a:r>
            <a:endParaRPr/>
          </a:p>
        </p:txBody>
      </p:sp>
      <p:sp>
        <p:nvSpPr>
          <p:cNvPr id="29" name="Google Shape;29;p1"/>
          <p:cNvSpPr txBox="1"/>
          <p:nvPr/>
        </p:nvSpPr>
        <p:spPr>
          <a:xfrm>
            <a:off x="517798" y="4498606"/>
            <a:ext cx="3620700" cy="245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Helvetica Neue"/>
                <a:ea typeface="Helvetica Neue"/>
                <a:cs typeface="Helvetica Neue"/>
                <a:sym typeface="Helvetica Neue"/>
              </a:rPr>
              <a:t>Group No.: 48</a:t>
            </a:r>
            <a:endParaRPr/>
          </a:p>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a:p>
            <a:pPr marL="0" marR="0" lvl="0" indent="0" algn="l" rtl="0">
              <a:lnSpc>
                <a:spcPct val="114000"/>
              </a:lnSpc>
              <a:spcBef>
                <a:spcPts val="0"/>
              </a:spcBef>
              <a:spcAft>
                <a:spcPts val="0"/>
              </a:spcAft>
              <a:buNone/>
            </a:pPr>
            <a:r>
              <a:rPr lang="en-US" sz="1600" b="1">
                <a:solidFill>
                  <a:schemeClr val="dk1"/>
                </a:solidFill>
                <a:latin typeface="Helvetica Neue"/>
                <a:ea typeface="Helvetica Neue"/>
                <a:cs typeface="Helvetica Neue"/>
                <a:sym typeface="Helvetica Neue"/>
              </a:rPr>
              <a:t>Team Member (s)</a:t>
            </a:r>
            <a:endParaRPr sz="1600" b="1">
              <a:solidFill>
                <a:schemeClr val="dk1"/>
              </a:solidFill>
              <a:latin typeface="Helvetica Neue"/>
              <a:ea typeface="Helvetica Neue"/>
              <a:cs typeface="Helvetica Neue"/>
              <a:sym typeface="Helvetica Neue"/>
            </a:endParaRPr>
          </a:p>
          <a:p>
            <a:pPr marL="285750" marR="0" lvl="0" indent="-285750" algn="l" rtl="0">
              <a:lnSpc>
                <a:spcPct val="125000"/>
              </a:lnSpc>
              <a:spcBef>
                <a:spcPts val="1200"/>
              </a:spcBef>
              <a:spcAft>
                <a:spcPts val="0"/>
              </a:spcAft>
              <a:buClr>
                <a:schemeClr val="dk1"/>
              </a:buClr>
              <a:buSzPts val="1500"/>
              <a:buFont typeface="Arial"/>
              <a:buChar char="•"/>
            </a:pPr>
            <a:r>
              <a:rPr lang="en-US" sz="1500">
                <a:solidFill>
                  <a:schemeClr val="dk1"/>
                </a:solidFill>
                <a:latin typeface="Tahoma"/>
                <a:ea typeface="Tahoma"/>
                <a:cs typeface="Tahoma"/>
                <a:sym typeface="Tahoma"/>
              </a:rPr>
              <a:t>Sujal Chauhan (221030266) </a:t>
            </a:r>
            <a:endParaRPr/>
          </a:p>
          <a:p>
            <a:pPr marL="285750" marR="0" lvl="0" indent="-285750" algn="l" rtl="0">
              <a:lnSpc>
                <a:spcPct val="125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Tushar (221030228)</a:t>
            </a:r>
            <a:endParaRPr/>
          </a:p>
          <a:p>
            <a:pPr marL="285750" marR="0" lvl="0" indent="-285750" algn="l" rtl="0">
              <a:lnSpc>
                <a:spcPct val="125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Parth Agarwal (221030304)</a:t>
            </a:r>
            <a:endParaRPr/>
          </a:p>
          <a:p>
            <a:pPr marL="285750" marR="0" lvl="0" indent="-285750" algn="l" rtl="0">
              <a:lnSpc>
                <a:spcPct val="125000"/>
              </a:lnSpc>
              <a:spcBef>
                <a:spcPts val="0"/>
              </a:spcBef>
              <a:spcAft>
                <a:spcPts val="0"/>
              </a:spcAft>
              <a:buClr>
                <a:schemeClr val="dk1"/>
              </a:buClr>
              <a:buSzPts val="1500"/>
              <a:buFont typeface="Arial"/>
              <a:buChar char="•"/>
            </a:pPr>
            <a:r>
              <a:rPr lang="en-US" sz="1500">
                <a:solidFill>
                  <a:schemeClr val="dk1"/>
                </a:solidFill>
                <a:latin typeface="Tahoma"/>
                <a:ea typeface="Tahoma"/>
                <a:cs typeface="Tahoma"/>
                <a:sym typeface="Tahoma"/>
              </a:rPr>
              <a:t>Piyush Sharma (221030235)</a:t>
            </a:r>
            <a:endParaRPr/>
          </a:p>
          <a:p>
            <a:pPr marL="0" marR="0" lvl="0" indent="0" algn="ctr"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0" name="Google Shape;30;p1"/>
          <p:cNvSpPr txBox="1"/>
          <p:nvPr/>
        </p:nvSpPr>
        <p:spPr>
          <a:xfrm>
            <a:off x="4871438" y="5041029"/>
            <a:ext cx="4118400" cy="101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Helvetica Neue"/>
                <a:ea typeface="Helvetica Neue"/>
                <a:cs typeface="Helvetica Neue"/>
                <a:sym typeface="Helvetica Neue"/>
              </a:rPr>
              <a:t>Supervisor</a:t>
            </a:r>
            <a:endParaRPr/>
          </a:p>
          <a:p>
            <a:pPr marL="342900" marR="0" lvl="0" indent="-342900" algn="l" rtl="0">
              <a:lnSpc>
                <a:spcPct val="125000"/>
              </a:lnSpc>
              <a:spcBef>
                <a:spcPts val="1200"/>
              </a:spcBef>
              <a:spcAft>
                <a:spcPts val="0"/>
              </a:spcAft>
              <a:buClr>
                <a:schemeClr val="dk1"/>
              </a:buClr>
              <a:buSzPts val="1500"/>
              <a:buFont typeface="Arial"/>
              <a:buChar char="•"/>
            </a:pPr>
            <a:r>
              <a:rPr lang="en-US" sz="1500">
                <a:solidFill>
                  <a:schemeClr val="dk1"/>
                </a:solidFill>
                <a:latin typeface="Tahoma"/>
                <a:ea typeface="Tahoma"/>
                <a:cs typeface="Tahoma"/>
                <a:sym typeface="Tahoma"/>
              </a:rPr>
              <a:t>Name: Dr. Praveen Modi</a:t>
            </a:r>
            <a:endParaRPr/>
          </a:p>
          <a:p>
            <a:pPr marL="357188" marR="0" lvl="0" indent="0" algn="l" rtl="0">
              <a:lnSpc>
                <a:spcPct val="125000"/>
              </a:lnSpc>
              <a:spcBef>
                <a:spcPts val="0"/>
              </a:spcBef>
              <a:spcAft>
                <a:spcPts val="0"/>
              </a:spcAft>
              <a:buNone/>
            </a:pPr>
            <a:r>
              <a:rPr lang="en-US" sz="1500">
                <a:solidFill>
                  <a:schemeClr val="dk1"/>
                </a:solidFill>
                <a:latin typeface="Tahoma"/>
                <a:ea typeface="Tahoma"/>
                <a:cs typeface="Tahoma"/>
                <a:sym typeface="Tahoma"/>
              </a:rPr>
              <a:t>Designation: Assistant Professor (SG)</a:t>
            </a:r>
            <a:endParaRPr/>
          </a:p>
        </p:txBody>
      </p:sp>
      <p:pic>
        <p:nvPicPr>
          <p:cNvPr id="31" name="Google Shape;31;p1"/>
          <p:cNvPicPr preferRelativeResize="0"/>
          <p:nvPr/>
        </p:nvPicPr>
        <p:blipFill rotWithShape="1">
          <a:blip r:embed="rId3">
            <a:alphaModFix/>
          </a:blip>
          <a:srcRect/>
          <a:stretch/>
        </p:blipFill>
        <p:spPr>
          <a:xfrm>
            <a:off x="6852492" y="-165253"/>
            <a:ext cx="1178805" cy="895833"/>
          </a:xfrm>
          <a:prstGeom prst="rect">
            <a:avLst/>
          </a:prstGeom>
          <a:noFill/>
          <a:ln>
            <a:noFill/>
          </a:ln>
        </p:spPr>
      </p:pic>
      <p:pic>
        <p:nvPicPr>
          <p:cNvPr id="32" name="Google Shape;32;p1"/>
          <p:cNvPicPr preferRelativeResize="0"/>
          <p:nvPr/>
        </p:nvPicPr>
        <p:blipFill rotWithShape="1">
          <a:blip r:embed="rId4">
            <a:alphaModFix/>
          </a:blip>
          <a:srcRect/>
          <a:stretch/>
        </p:blipFill>
        <p:spPr>
          <a:xfrm>
            <a:off x="8054901" y="160424"/>
            <a:ext cx="1015707" cy="345492"/>
          </a:xfrm>
          <a:prstGeom prst="rect">
            <a:avLst/>
          </a:prstGeom>
          <a:noFill/>
          <a:ln>
            <a:noFill/>
          </a:ln>
        </p:spPr>
      </p:pic>
      <p:pic>
        <p:nvPicPr>
          <p:cNvPr id="33" name="Google Shape;33;p1" descr="JUIT Office Photos | Glassdoor"/>
          <p:cNvPicPr preferRelativeResize="0"/>
          <p:nvPr/>
        </p:nvPicPr>
        <p:blipFill rotWithShape="1">
          <a:blip r:embed="rId5">
            <a:alphaModFix/>
          </a:blip>
          <a:srcRect/>
          <a:stretch/>
        </p:blipFill>
        <p:spPr>
          <a:xfrm>
            <a:off x="11017" y="93342"/>
            <a:ext cx="815248" cy="679009"/>
          </a:xfrm>
          <a:prstGeom prst="rect">
            <a:avLst/>
          </a:prstGeom>
          <a:noFill/>
          <a:ln>
            <a:noFill/>
          </a:ln>
        </p:spPr>
      </p:pic>
      <p:sp>
        <p:nvSpPr>
          <p:cNvPr id="34" name="Google Shape;34;p1"/>
          <p:cNvSpPr txBox="1"/>
          <p:nvPr/>
        </p:nvSpPr>
        <p:spPr>
          <a:xfrm>
            <a:off x="-2" y="601361"/>
            <a:ext cx="9144000" cy="1411285"/>
          </a:xfrm>
          <a:prstGeom prst="rect">
            <a:avLst/>
          </a:prstGeom>
          <a:noFill/>
          <a:ln>
            <a:noFill/>
          </a:ln>
        </p:spPr>
        <p:txBody>
          <a:bodyPr spcFirstLastPara="1" wrap="square" lIns="91425" tIns="45700" rIns="91425" bIns="45700" anchor="b" anchorCtr="0">
            <a:noAutofit/>
          </a:bodyPr>
          <a:lstStyle/>
          <a:p>
            <a:pPr marL="0" marR="0" lvl="0" indent="0" algn="ctr" rtl="0">
              <a:lnSpc>
                <a:spcPct val="121428"/>
              </a:lnSpc>
              <a:spcBef>
                <a:spcPts val="0"/>
              </a:spcBef>
              <a:spcAft>
                <a:spcPts val="0"/>
              </a:spcAft>
              <a:buNone/>
            </a:pPr>
            <a:r>
              <a:rPr lang="en-US" sz="2800" b="1" i="0" u="none" strike="noStrike">
                <a:solidFill>
                  <a:srgbClr val="000099"/>
                </a:solidFill>
                <a:latin typeface="Palatino"/>
                <a:ea typeface="Palatino"/>
                <a:cs typeface="Palatino"/>
                <a:sym typeface="Palatino"/>
              </a:rPr>
              <a:t>Jaypee University of Information Technology</a:t>
            </a:r>
            <a:endParaRPr/>
          </a:p>
          <a:p>
            <a:pPr marL="0" marR="0" lvl="0" indent="0" algn="ctr" rtl="0">
              <a:lnSpc>
                <a:spcPct val="130769"/>
              </a:lnSpc>
              <a:spcBef>
                <a:spcPts val="0"/>
              </a:spcBef>
              <a:spcAft>
                <a:spcPts val="0"/>
              </a:spcAft>
              <a:buClr>
                <a:srgbClr val="000099"/>
              </a:buClr>
              <a:buSzPts val="2600"/>
              <a:buFont typeface="Palatino"/>
              <a:buNone/>
            </a:pPr>
            <a:r>
              <a:rPr lang="en-US" sz="2600" b="1" i="0" u="none" strike="noStrike">
                <a:solidFill>
                  <a:srgbClr val="000099"/>
                </a:solidFill>
                <a:latin typeface="Palatino"/>
                <a:ea typeface="Palatino"/>
                <a:cs typeface="Palatino"/>
                <a:sym typeface="Palatino"/>
              </a:rPr>
              <a:t>Department of Computer Science and Engineering and Information Technology</a:t>
            </a:r>
            <a:endParaRPr sz="2600" b="1" i="0" u="none" strike="noStrike">
              <a:solidFill>
                <a:srgbClr val="002060"/>
              </a:solidFill>
              <a:latin typeface="Palatino"/>
              <a:ea typeface="Palatino"/>
              <a:cs typeface="Palatino"/>
              <a:sym typeface="Palati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2"/>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a:t>Outline</a:t>
            </a:r>
            <a:endParaRPr/>
          </a:p>
        </p:txBody>
      </p:sp>
      <p:sp>
        <p:nvSpPr>
          <p:cNvPr id="41" name="Google Shape;41;p2"/>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357188" marR="0" lvl="0" indent="-261938" algn="just" rtl="0">
              <a:lnSpc>
                <a:spcPct val="140000"/>
              </a:lnSpc>
              <a:spcBef>
                <a:spcPts val="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Introduction</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Problem Statement</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Objectives</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Literature Review</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Project Design</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Tools, Technologies and Languages</a:t>
            </a:r>
            <a:endParaRPr/>
          </a:p>
          <a:p>
            <a:pPr marL="357187" marR="0" lvl="0" indent="-261937"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Dataset</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Key Learnings</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Work Plan till End-Term Evaluation</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Project Plan</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Work Contribution and Attendance</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Supervisor Interactions</a:t>
            </a:r>
            <a:endParaRPr/>
          </a:p>
          <a:p>
            <a:pPr marL="357188" marR="0" lvl="0" indent="-261938" algn="just" rtl="0">
              <a:lnSpc>
                <a:spcPct val="140000"/>
              </a:lnSpc>
              <a:spcBef>
                <a:spcPts val="490"/>
              </a:spcBef>
              <a:spcAft>
                <a:spcPts val="0"/>
              </a:spcAft>
              <a:buClr>
                <a:schemeClr val="dk1"/>
              </a:buClr>
              <a:buSzPts val="1750"/>
              <a:buFont typeface="Arial"/>
              <a:buChar char="•"/>
            </a:pPr>
            <a:r>
              <a:rPr lang="en-US" sz="1400">
                <a:solidFill>
                  <a:schemeClr val="dk1"/>
                </a:solidFill>
                <a:latin typeface="Helvetica Neue"/>
                <a:ea typeface="Helvetica Neue"/>
                <a:cs typeface="Helvetica Neue"/>
                <a:sym typeface="Helvetica Neue"/>
              </a:rPr>
              <a:t>References</a:t>
            </a:r>
            <a:endParaRPr/>
          </a:p>
          <a:p>
            <a:pPr marL="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3"/>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a:t>Introduction</a:t>
            </a:r>
            <a:endParaRPr/>
          </a:p>
        </p:txBody>
      </p:sp>
      <p:sp>
        <p:nvSpPr>
          <p:cNvPr id="47" name="Google Shape;47;p3"/>
          <p:cNvSpPr txBox="1"/>
          <p:nvPr/>
        </p:nvSpPr>
        <p:spPr>
          <a:xfrm>
            <a:off x="76975" y="804225"/>
            <a:ext cx="8328900" cy="5794800"/>
          </a:xfrm>
          <a:prstGeom prst="rect">
            <a:avLst/>
          </a:prstGeom>
          <a:noFill/>
          <a:ln>
            <a:noFill/>
          </a:ln>
        </p:spPr>
        <p:txBody>
          <a:bodyPr spcFirstLastPara="1" wrap="square" lIns="91425" tIns="45700" rIns="91425" bIns="45700" anchor="t" anchorCtr="0">
            <a:noAutofit/>
          </a:bodyPr>
          <a:lstStyle/>
          <a:p>
            <a:pPr marL="457200" lvl="0" indent="-342900" algn="just" rtl="0">
              <a:lnSpc>
                <a:spcPct val="150000"/>
              </a:lnSpc>
              <a:spcBef>
                <a:spcPts val="0"/>
              </a:spcBef>
              <a:spcAft>
                <a:spcPts val="0"/>
              </a:spcAft>
              <a:buClr>
                <a:schemeClr val="dk1"/>
              </a:buClr>
              <a:buSzPts val="1800"/>
              <a:buChar char="•"/>
            </a:pPr>
            <a:r>
              <a:rPr lang="en-US" sz="1800">
                <a:solidFill>
                  <a:schemeClr val="dk1"/>
                </a:solidFill>
              </a:rPr>
              <a:t>Driver drowsiness is a </a:t>
            </a:r>
            <a:r>
              <a:rPr lang="en-US" sz="1800" b="1">
                <a:solidFill>
                  <a:schemeClr val="dk1"/>
                </a:solidFill>
              </a:rPr>
              <a:t>serious safety concern</a:t>
            </a:r>
            <a:r>
              <a:rPr lang="en-US" sz="1800">
                <a:solidFill>
                  <a:schemeClr val="dk1"/>
                </a:solidFill>
              </a:rPr>
              <a:t>, contributing to a significant number of road accidents, injuries, and fatalities worldwide.</a:t>
            </a:r>
            <a:endParaRPr sz="180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b="1">
                <a:solidFill>
                  <a:schemeClr val="dk1"/>
                </a:solidFill>
              </a:rPr>
              <a:t>Early detection</a:t>
            </a:r>
            <a:r>
              <a:rPr lang="en-US" sz="1800">
                <a:solidFill>
                  <a:schemeClr val="dk1"/>
                </a:solidFill>
              </a:rPr>
              <a:t> and prompt alerts are essential for preventing accidents and improving road safety outcomes.</a:t>
            </a:r>
            <a:endParaRPr sz="180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a:solidFill>
                  <a:schemeClr val="dk1"/>
                </a:solidFill>
              </a:rPr>
              <a:t>Conventional detection methods often depend on manual monitoring or costly sensors, which can be </a:t>
            </a:r>
            <a:r>
              <a:rPr lang="en-US" sz="1800" b="1">
                <a:solidFill>
                  <a:schemeClr val="dk1"/>
                </a:solidFill>
              </a:rPr>
              <a:t>inaccurate</a:t>
            </a:r>
            <a:r>
              <a:rPr lang="en-US" sz="1800">
                <a:solidFill>
                  <a:schemeClr val="dk1"/>
                </a:solidFill>
              </a:rPr>
              <a:t>, </a:t>
            </a:r>
            <a:r>
              <a:rPr lang="en-US" sz="1800" b="1">
                <a:solidFill>
                  <a:schemeClr val="dk1"/>
                </a:solidFill>
              </a:rPr>
              <a:t>delayed</a:t>
            </a:r>
            <a:r>
              <a:rPr lang="en-US" sz="1800">
                <a:solidFill>
                  <a:schemeClr val="dk1"/>
                </a:solidFill>
              </a:rPr>
              <a:t>, or </a:t>
            </a:r>
            <a:r>
              <a:rPr lang="en-US" sz="1800" b="1">
                <a:solidFill>
                  <a:schemeClr val="dk1"/>
                </a:solidFill>
              </a:rPr>
              <a:t>intrusive</a:t>
            </a:r>
            <a:r>
              <a:rPr lang="en-US" sz="1800">
                <a:solidFill>
                  <a:schemeClr val="dk1"/>
                </a:solidFill>
              </a:rPr>
              <a:t>.</a:t>
            </a:r>
            <a:endParaRPr sz="180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a:solidFill>
                  <a:schemeClr val="dk1"/>
                </a:solidFill>
              </a:rPr>
              <a:t>An automated system can continuously monitor driver alertness to identify </a:t>
            </a:r>
            <a:r>
              <a:rPr lang="en-US" sz="1800" b="1">
                <a:solidFill>
                  <a:schemeClr val="dk1"/>
                </a:solidFill>
              </a:rPr>
              <a:t>early signs of fatigue</a:t>
            </a:r>
            <a:r>
              <a:rPr lang="en-US" sz="1800">
                <a:solidFill>
                  <a:schemeClr val="dk1"/>
                </a:solidFill>
              </a:rPr>
              <a:t>, helping reduce risks on the road.</a:t>
            </a:r>
            <a:endParaRPr sz="180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a:solidFill>
                  <a:schemeClr val="dk1"/>
                </a:solidFill>
              </a:rPr>
              <a:t>Such systems enable </a:t>
            </a:r>
            <a:r>
              <a:rPr lang="en-US" sz="1800" b="1">
                <a:solidFill>
                  <a:schemeClr val="dk1"/>
                </a:solidFill>
              </a:rPr>
              <a:t>faster, more accurate, and proactive intervention</a:t>
            </a:r>
            <a:r>
              <a:rPr lang="en-US" sz="1800">
                <a:solidFill>
                  <a:schemeClr val="dk1"/>
                </a:solidFill>
              </a:rPr>
              <a:t> compared to traditional practices, potentially saving lives.</a:t>
            </a:r>
            <a:endParaRPr sz="1800">
              <a:solidFill>
                <a:schemeClr val="dk1"/>
              </a:solidFill>
            </a:endParaRPr>
          </a:p>
          <a:p>
            <a:pPr marL="0" lvl="0" indent="0" algn="l" rtl="0">
              <a:lnSpc>
                <a:spcPct val="115000"/>
              </a:lnSpc>
              <a:spcBef>
                <a:spcPts val="0"/>
              </a:spcBef>
              <a:spcAft>
                <a:spcPts val="0"/>
              </a:spcAft>
              <a:buNone/>
            </a:pPr>
            <a:endParaRPr sz="1800">
              <a:solidFill>
                <a:schemeClr val="dk1"/>
              </a:solidFill>
            </a:endParaRPr>
          </a:p>
          <a:p>
            <a:pPr marL="0" lvl="0" indent="0" algn="l" rtl="0">
              <a:lnSpc>
                <a:spcPct val="115000"/>
              </a:lnSpc>
              <a:spcBef>
                <a:spcPts val="0"/>
              </a:spcBef>
              <a:spcAft>
                <a:spcPts val="0"/>
              </a:spcAft>
              <a:buNone/>
            </a:pP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4"/>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a:t>Problem Statement</a:t>
            </a:r>
            <a:endParaRPr/>
          </a:p>
        </p:txBody>
      </p:sp>
      <p:sp>
        <p:nvSpPr>
          <p:cNvPr id="53" name="Google Shape;53;p4"/>
          <p:cNvSpPr txBox="1"/>
          <p:nvPr/>
        </p:nvSpPr>
        <p:spPr>
          <a:xfrm>
            <a:off x="77125" y="804225"/>
            <a:ext cx="8328600" cy="5761800"/>
          </a:xfrm>
          <a:prstGeom prst="rect">
            <a:avLst/>
          </a:prstGeom>
          <a:noFill/>
          <a:ln>
            <a:noFill/>
          </a:ln>
        </p:spPr>
        <p:txBody>
          <a:bodyPr spcFirstLastPara="1" wrap="square" lIns="91425" tIns="45700" rIns="91425" bIns="45700" anchor="t" anchorCtr="0">
            <a:noAutofit/>
          </a:bodyPr>
          <a:lstStyle/>
          <a:p>
            <a:pPr marL="457200" lvl="0" indent="-342900" algn="just" rtl="0">
              <a:lnSpc>
                <a:spcPct val="150000"/>
              </a:lnSpc>
              <a:spcBef>
                <a:spcPts val="0"/>
              </a:spcBef>
              <a:spcAft>
                <a:spcPts val="0"/>
              </a:spcAft>
              <a:buClr>
                <a:schemeClr val="dk1"/>
              </a:buClr>
              <a:buSzPts val="1800"/>
              <a:buChar char="•"/>
            </a:pPr>
            <a:r>
              <a:rPr lang="en-GB" sz="1800" dirty="0">
                <a:solidFill>
                  <a:schemeClr val="dk1"/>
                </a:solidFill>
              </a:rPr>
              <a:t>Driver drowsiness is a leading cause of road accidents, injuries, and fatalities worldwide. Existing detection systems either come too late through manual observation or fail due to poor accuracy, generating false alarms or missing genuine drowsiness signals. The challenge is to develop a reliable, real-time drowsiness detection system that achieves high accuracy while operating efficiently on standard consumer hardware without specialized equipment</a:t>
            </a:r>
            <a:r>
              <a:rPr lang="en-US" sz="1800" dirty="0">
                <a:solidFill>
                  <a:schemeClr val="dk1"/>
                </a:solidFill>
              </a:rPr>
              <a:t>.</a:t>
            </a:r>
            <a:endParaRPr sz="1800" dirty="0">
              <a:solidFill>
                <a:schemeClr val="dk1"/>
              </a:solidFill>
            </a:endParaRPr>
          </a:p>
          <a:p>
            <a:pPr marL="457200" marR="0" lvl="0" indent="0" algn="just" rtl="0">
              <a:lnSpc>
                <a:spcPct val="150000"/>
              </a:lnSpc>
              <a:spcBef>
                <a:spcPts val="0"/>
              </a:spcBef>
              <a:spcAft>
                <a:spcPts val="0"/>
              </a:spcAft>
              <a:buNone/>
            </a:pPr>
            <a:endParaRPr sz="18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5"/>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a:t>Objectives</a:t>
            </a:r>
            <a:endParaRPr/>
          </a:p>
        </p:txBody>
      </p:sp>
      <p:sp>
        <p:nvSpPr>
          <p:cNvPr id="59" name="Google Shape;59;p5"/>
          <p:cNvSpPr txBox="1"/>
          <p:nvPr/>
        </p:nvSpPr>
        <p:spPr>
          <a:xfrm>
            <a:off x="77125" y="804225"/>
            <a:ext cx="8328600" cy="57618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800" dirty="0"/>
              <a:t>The primary objective of this project is to develop a robust real-time driver drowsiness detection and alert system that:</a:t>
            </a:r>
            <a:endParaRPr sz="1800" dirty="0"/>
          </a:p>
          <a:p>
            <a:pPr marL="457200" marR="0" lvl="0" indent="-342900" algn="just" rtl="0">
              <a:lnSpc>
                <a:spcPct val="150000"/>
              </a:lnSpc>
              <a:spcBef>
                <a:spcPts val="0"/>
              </a:spcBef>
              <a:spcAft>
                <a:spcPts val="0"/>
              </a:spcAft>
              <a:buSzPts val="1800"/>
              <a:buChar char="●"/>
            </a:pPr>
            <a:r>
              <a:rPr lang="en-US" sz="1800" dirty="0"/>
              <a:t>Accurately identifies signs of driver fatigue by continuously monitoring eyes and mouth states in real-time.</a:t>
            </a:r>
            <a:endParaRPr sz="1800" dirty="0"/>
          </a:p>
          <a:p>
            <a:pPr marL="457200" marR="0" lvl="0" indent="-342900" algn="just" rtl="0">
              <a:lnSpc>
                <a:spcPct val="150000"/>
              </a:lnSpc>
              <a:spcBef>
                <a:spcPts val="0"/>
              </a:spcBef>
              <a:spcAft>
                <a:spcPts val="0"/>
              </a:spcAft>
              <a:buSzPts val="1800"/>
              <a:buChar char="●"/>
            </a:pPr>
            <a:r>
              <a:rPr lang="en-US" sz="1800" dirty="0"/>
              <a:t>Ensures rapid and precise detection of facial features and eye regions to maximize system responsiveness.</a:t>
            </a:r>
            <a:endParaRPr sz="1800" dirty="0"/>
          </a:p>
          <a:p>
            <a:pPr marL="457200" marR="0" lvl="0" indent="-342900" algn="just" rtl="0">
              <a:lnSpc>
                <a:spcPct val="150000"/>
              </a:lnSpc>
              <a:spcBef>
                <a:spcPts val="0"/>
              </a:spcBef>
              <a:spcAft>
                <a:spcPts val="0"/>
              </a:spcAft>
              <a:buSzPts val="1800"/>
              <a:buChar char="●"/>
            </a:pPr>
            <a:r>
              <a:rPr lang="en-US" sz="1800" dirty="0"/>
              <a:t>Provides immediate audio-visual alerts to drivers upon detection of sustained drowsiness, helping to prevent potential accidents.</a:t>
            </a:r>
            <a:endParaRPr sz="1800" dirty="0"/>
          </a:p>
          <a:p>
            <a:pPr marL="457200" marR="0" lvl="0" indent="-342900" algn="just" rtl="0">
              <a:lnSpc>
                <a:spcPct val="150000"/>
              </a:lnSpc>
              <a:spcBef>
                <a:spcPts val="0"/>
              </a:spcBef>
              <a:spcAft>
                <a:spcPts val="0"/>
              </a:spcAft>
              <a:buSzPts val="1800"/>
              <a:buChar char="●"/>
            </a:pPr>
            <a:r>
              <a:rPr lang="en-GB" sz="1800" dirty="0"/>
              <a:t>Minimizes false alarms and missed detections through intelligent temporal scoring and robust feature analysis.</a:t>
            </a:r>
          </a:p>
          <a:p>
            <a:pPr marL="457200" marR="0" lvl="0" indent="-342900" algn="just" rtl="0">
              <a:lnSpc>
                <a:spcPct val="150000"/>
              </a:lnSpc>
              <a:spcBef>
                <a:spcPts val="0"/>
              </a:spcBef>
              <a:spcAft>
                <a:spcPts val="0"/>
              </a:spcAft>
              <a:buSzPts val="1800"/>
              <a:buChar char="●"/>
            </a:pPr>
            <a:r>
              <a:rPr lang="en-US" sz="1800" dirty="0"/>
              <a:t>Aims to enhance overall road safety by reducing the risk of accidents caused by driver fatigue.</a:t>
            </a:r>
            <a:endParaRPr sz="1800" dirty="0"/>
          </a:p>
          <a:p>
            <a:pPr marL="0" marR="0" lvl="0" indent="0" algn="just" rtl="0">
              <a:lnSpc>
                <a:spcPct val="150000"/>
              </a:lnSpc>
              <a:spcBef>
                <a:spcPts val="0"/>
              </a:spcBef>
              <a:spcAft>
                <a:spcPts val="0"/>
              </a:spcAft>
              <a:buNone/>
            </a:pPr>
            <a:endParaRPr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6"/>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Literature Review</a:t>
            </a:r>
            <a:endParaRPr b="0"/>
          </a:p>
        </p:txBody>
      </p:sp>
      <p:sp>
        <p:nvSpPr>
          <p:cNvPr id="65" name="Google Shape;65;p6"/>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66" name="Google Shape;66;p6"/>
          <p:cNvGraphicFramePr/>
          <p:nvPr/>
        </p:nvGraphicFramePr>
        <p:xfrm>
          <a:off x="110168" y="881348"/>
          <a:ext cx="8923675" cy="5574675"/>
        </p:xfrm>
        <a:graphic>
          <a:graphicData uri="http://schemas.openxmlformats.org/drawingml/2006/table">
            <a:tbl>
              <a:tblPr firstRow="1" bandRow="1">
                <a:noFill/>
                <a:tableStyleId>{65DD5067-7E9F-42BD-843D-25329A0267B5}</a:tableStyleId>
              </a:tblPr>
              <a:tblGrid>
                <a:gridCol w="542250">
                  <a:extLst>
                    <a:ext uri="{9D8B030D-6E8A-4147-A177-3AD203B41FA5}">
                      <a16:colId xmlns:a16="http://schemas.microsoft.com/office/drawing/2014/main" val="20000"/>
                    </a:ext>
                  </a:extLst>
                </a:gridCol>
                <a:gridCol w="1760275">
                  <a:extLst>
                    <a:ext uri="{9D8B030D-6E8A-4147-A177-3AD203B41FA5}">
                      <a16:colId xmlns:a16="http://schemas.microsoft.com/office/drawing/2014/main" val="20001"/>
                    </a:ext>
                  </a:extLst>
                </a:gridCol>
                <a:gridCol w="1465250">
                  <a:extLst>
                    <a:ext uri="{9D8B030D-6E8A-4147-A177-3AD203B41FA5}">
                      <a16:colId xmlns:a16="http://schemas.microsoft.com/office/drawing/2014/main" val="20002"/>
                    </a:ext>
                  </a:extLst>
                </a:gridCol>
                <a:gridCol w="14211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05925">
                  <a:extLst>
                    <a:ext uri="{9D8B030D-6E8A-4147-A177-3AD203B41FA5}">
                      <a16:colId xmlns:a16="http://schemas.microsoft.com/office/drawing/2014/main" val="20005"/>
                    </a:ext>
                  </a:extLst>
                </a:gridCol>
              </a:tblGrid>
              <a:tr h="760175">
                <a:tc>
                  <a:txBody>
                    <a:bodyPr/>
                    <a:lstStyle/>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S. No.</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Author &amp; </a:t>
                      </a:r>
                      <a:endParaRPr/>
                    </a:p>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Paper Title </a:t>
                      </a:r>
                      <a:br>
                        <a:rPr lang="en-US" sz="1400" b="0" i="0" u="none" strike="noStrike" cap="none">
                          <a:latin typeface="Helvetica Neue"/>
                          <a:ea typeface="Helvetica Neue"/>
                          <a:cs typeface="Helvetica Neue"/>
                          <a:sym typeface="Helvetica Neue"/>
                        </a:rPr>
                      </a:br>
                      <a:r>
                        <a:rPr lang="en-US" sz="1400" b="0" i="0" u="none" strike="noStrike" cap="none">
                          <a:latin typeface="Helvetica Neue"/>
                          <a:ea typeface="Helvetica Neue"/>
                          <a:cs typeface="Helvetica Neue"/>
                          <a:sym typeface="Helvetica Neue"/>
                        </a:rPr>
                        <a:t>[Citation]</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Journal/</a:t>
                      </a:r>
                      <a:endParaRPr/>
                    </a:p>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Conference</a:t>
                      </a:r>
                      <a:br>
                        <a:rPr lang="en-US" sz="1400" b="0" i="0" u="none" strike="noStrike" cap="none">
                          <a:latin typeface="Helvetica Neue"/>
                          <a:ea typeface="Helvetica Neue"/>
                          <a:cs typeface="Helvetica Neue"/>
                          <a:sym typeface="Helvetica Neue"/>
                        </a:rPr>
                      </a:br>
                      <a:r>
                        <a:rPr lang="en-US" sz="1400" b="0" i="0" u="none" strike="noStrike" cap="none">
                          <a:latin typeface="Helvetica Neue"/>
                          <a:ea typeface="Helvetica Neue"/>
                          <a:cs typeface="Helvetica Neue"/>
                          <a:sym typeface="Helvetica Neue"/>
                        </a:rPr>
                        <a:t>(Year)</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Tools/</a:t>
                      </a:r>
                      <a:endParaRPr/>
                    </a:p>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Techniques/</a:t>
                      </a:r>
                      <a:endParaRPr/>
                    </a:p>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Dataset</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Key Findings/</a:t>
                      </a:r>
                      <a:endParaRPr/>
                    </a:p>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Results</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Limitations/</a:t>
                      </a:r>
                      <a:endParaRPr/>
                    </a:p>
                    <a:p>
                      <a:pPr marL="0" marR="0" lvl="0" indent="0" algn="ctr" rtl="0">
                        <a:spcBef>
                          <a:spcPts val="0"/>
                        </a:spcBef>
                        <a:spcAft>
                          <a:spcPts val="0"/>
                        </a:spcAft>
                        <a:buNone/>
                      </a:pPr>
                      <a:r>
                        <a:rPr lang="en-US" sz="1400" b="0" i="0" u="none" strike="noStrike" cap="none">
                          <a:latin typeface="Helvetica Neue"/>
                          <a:ea typeface="Helvetica Neue"/>
                          <a:cs typeface="Helvetica Neue"/>
                          <a:sym typeface="Helvetica Neue"/>
                        </a:rPr>
                        <a:t>Gaps Identified</a:t>
                      </a:r>
                      <a:endParaRPr/>
                    </a:p>
                  </a:txBody>
                  <a:tcPr marL="91450" marR="91450" marT="45725" marB="45725">
                    <a:solidFill>
                      <a:srgbClr val="606029"/>
                    </a:solidFill>
                  </a:tcPr>
                </a:tc>
                <a:extLst>
                  <a:ext uri="{0D108BD9-81ED-4DB2-BD59-A6C34878D82A}">
                    <a16:rowId xmlns:a16="http://schemas.microsoft.com/office/drawing/2014/main" val="10000"/>
                  </a:ext>
                </a:extLst>
              </a:tr>
              <a:tr h="1203625">
                <a:tc>
                  <a:txBody>
                    <a:bodyPr/>
                    <a:lstStyle/>
                    <a:p>
                      <a:pPr marL="0" marR="0" lvl="0" indent="0" algn="ctr" rtl="0">
                        <a:spcBef>
                          <a:spcPts val="0"/>
                        </a:spcBef>
                        <a:spcAft>
                          <a:spcPts val="0"/>
                        </a:spcAft>
                        <a:buNone/>
                      </a:pPr>
                      <a:r>
                        <a:rPr lang="en-US" sz="1200" b="0" i="0" u="none" strike="noStrike" cap="none">
                          <a:latin typeface="Helvetica Neue"/>
                          <a:ea typeface="Helvetica Neue"/>
                          <a:cs typeface="Helvetica Neue"/>
                          <a:sym typeface="Helvetica Neue"/>
                        </a:rPr>
                        <a:t>1.</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Gautam et al., "Novel CNN Based Model Using LSTM for Driver Drowsiness Detection"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IJRASET (2025)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CNN + LSTM, NTHU-DDD, YawDD dataset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96% accuracy; spatial &amp; temporal drowsiness cues captured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High computation;</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requires GPU</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1"/>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2.</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Ghanta Sai Krishna et al., "VigilEye: YOLOv5 Vision Transformer for Drowsiness Detection"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Arxiv (2022)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YOLOv5, Vision Transformer, UTA-RLDD dataset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95-97% accuracy; robust in real driving conditions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Large datasets;</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transformer training</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costly</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2"/>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3.</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Sengar et al., "OpenCV EAR/MAR CNN Method for Real Time Drowsiness Detection"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Arxiv (2024)</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OpenCV, CNN, EAR/MAR metrics, Live webcam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Fast, sensitive, real-time detection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Reduced accuracy in</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low light &amp; occlusion</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3"/>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4.</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Civik et al., Tran Viet Khoa et al, "Privacy-Preserving Drowsiness Detection via Federated Learning"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Frontiers in Computer Science (2025)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Federated learning, edge devices dataset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Good privacy, adaptable; 89.9% accuracy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Accuracy lower than</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centralized systems</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7"/>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Literature Review (cont…)</a:t>
            </a:r>
            <a:endParaRPr b="0"/>
          </a:p>
        </p:txBody>
      </p:sp>
      <p:sp>
        <p:nvSpPr>
          <p:cNvPr id="72" name="Google Shape;72;p7"/>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73" name="Google Shape;73;p7"/>
          <p:cNvGraphicFramePr/>
          <p:nvPr/>
        </p:nvGraphicFramePr>
        <p:xfrm>
          <a:off x="110168" y="881348"/>
          <a:ext cx="8923675" cy="5742660"/>
        </p:xfrm>
        <a:graphic>
          <a:graphicData uri="http://schemas.openxmlformats.org/drawingml/2006/table">
            <a:tbl>
              <a:tblPr firstRow="1" bandRow="1">
                <a:noFill/>
                <a:tableStyleId>{65DD5067-7E9F-42BD-843D-25329A0267B5}</a:tableStyleId>
              </a:tblPr>
              <a:tblGrid>
                <a:gridCol w="542250">
                  <a:extLst>
                    <a:ext uri="{9D8B030D-6E8A-4147-A177-3AD203B41FA5}">
                      <a16:colId xmlns:a16="http://schemas.microsoft.com/office/drawing/2014/main" val="20000"/>
                    </a:ext>
                  </a:extLst>
                </a:gridCol>
                <a:gridCol w="1760275">
                  <a:extLst>
                    <a:ext uri="{9D8B030D-6E8A-4147-A177-3AD203B41FA5}">
                      <a16:colId xmlns:a16="http://schemas.microsoft.com/office/drawing/2014/main" val="20001"/>
                    </a:ext>
                  </a:extLst>
                </a:gridCol>
                <a:gridCol w="1465250">
                  <a:extLst>
                    <a:ext uri="{9D8B030D-6E8A-4147-A177-3AD203B41FA5}">
                      <a16:colId xmlns:a16="http://schemas.microsoft.com/office/drawing/2014/main" val="20002"/>
                    </a:ext>
                  </a:extLst>
                </a:gridCol>
                <a:gridCol w="14211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05925">
                  <a:extLst>
                    <a:ext uri="{9D8B030D-6E8A-4147-A177-3AD203B41FA5}">
                      <a16:colId xmlns:a16="http://schemas.microsoft.com/office/drawing/2014/main" val="20005"/>
                    </a:ext>
                  </a:extLst>
                </a:gridCol>
              </a:tblGrid>
              <a:tr h="760175">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S. No.</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Author &amp; </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Paper Title </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[Citation]</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Journal/</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Conference</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(Year)</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Tools/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Techniques/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Dataset</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Key Findings/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Results</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Limitations/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Gaps Identified</a:t>
                      </a:r>
                      <a:endParaRPr/>
                    </a:p>
                  </a:txBody>
                  <a:tcPr marL="91450" marR="91450" marT="45725" marB="45725">
                    <a:solidFill>
                      <a:srgbClr val="606029"/>
                    </a:solidFill>
                  </a:tcPr>
                </a:tc>
                <a:extLst>
                  <a:ext uri="{0D108BD9-81ED-4DB2-BD59-A6C34878D82A}">
                    <a16:rowId xmlns:a16="http://schemas.microsoft.com/office/drawing/2014/main" val="10000"/>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5.</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Hassan et al., "Transformer-Based Deep Learning for Driver Drowsiness Detection"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Scientific Reports (2025)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Vision Transformers, ViT, Swin Transformer, NTHU-DDD dataset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99% accuracy; robust to varied conditions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High resource</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consumption;</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unsuitable for</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embedded</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1"/>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6.</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Xiao Feng et al., "EEG-based Calibration-free Drowsiness Detection"</a:t>
                      </a:r>
                      <a:endParaRPr sz="1200">
                        <a:latin typeface="Helvetica Neue"/>
                        <a:ea typeface="Helvetica Neue"/>
                        <a:cs typeface="Helvetica Neue"/>
                        <a:sym typeface="Helvetica Neue"/>
                      </a:endParaRPr>
                    </a:p>
                    <a:p>
                      <a:pPr marL="0" marR="0" lvl="0" indent="0" algn="l" rtl="0">
                        <a:spcBef>
                          <a:spcPts val="0"/>
                        </a:spcBef>
                        <a:spcAft>
                          <a:spcPts val="0"/>
                        </a:spcAft>
                        <a:buNone/>
                      </a:pP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Frontiers (2024)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Single-channel EEG signals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Good cross-subject accuracy; non-invasive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EEG noise; limited single-channel info</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2"/>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7.</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Bakheet et al., "Drowsy driving detection-quantized fisher-Gabor features and  conditional random fields”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Frontiers in Computer Science (2025)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EEG, ECG, facial images; DROZY dataset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98% accuracy; robust with multimodal data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Vision-based system can fail under occlusion, poor lighting, head pose variation etc.</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3"/>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8.</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Shengli Cao et al., “Multimodal neural networks based driver fatigue detection” </a:t>
                      </a:r>
                      <a:endParaRPr sz="12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Nature: Scientific Reports (2025)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Multimodal neural network (EEG, ECG, facial images); DROZY dataset</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98.41% accuracy; reliable via multiple modalities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computational</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expensive and</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power use; needs good</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physiological signal</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quality</a:t>
                      </a: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8"/>
          <p:cNvSpPr txBox="1">
            <a:spLocks noGrp="1"/>
          </p:cNvSpPr>
          <p:nvPr>
            <p:ph type="title"/>
          </p:nvPr>
        </p:nvSpPr>
        <p:spPr>
          <a:xfrm>
            <a:off x="40640" y="30480"/>
            <a:ext cx="8328900" cy="694200"/>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7" lvl="0" indent="0" algn="l" rtl="0">
              <a:spcBef>
                <a:spcPts val="0"/>
              </a:spcBef>
              <a:spcAft>
                <a:spcPts val="0"/>
              </a:spcAft>
              <a:buNone/>
            </a:pPr>
            <a:r>
              <a:rPr lang="en-US" sz="2400"/>
              <a:t>Literature Review (cont…)</a:t>
            </a:r>
            <a:endParaRPr b="0"/>
          </a:p>
        </p:txBody>
      </p:sp>
      <p:sp>
        <p:nvSpPr>
          <p:cNvPr id="79" name="Google Shape;79;p8"/>
          <p:cNvSpPr txBox="1"/>
          <p:nvPr/>
        </p:nvSpPr>
        <p:spPr>
          <a:xfrm>
            <a:off x="77118" y="804231"/>
            <a:ext cx="8956800" cy="5794800"/>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80" name="Google Shape;80;p8"/>
          <p:cNvGraphicFramePr/>
          <p:nvPr/>
        </p:nvGraphicFramePr>
        <p:xfrm>
          <a:off x="110168" y="881348"/>
          <a:ext cx="8923675" cy="5742660"/>
        </p:xfrm>
        <a:graphic>
          <a:graphicData uri="http://schemas.openxmlformats.org/drawingml/2006/table">
            <a:tbl>
              <a:tblPr firstRow="1" bandRow="1">
                <a:noFill/>
                <a:tableStyleId>{65DD5067-7E9F-42BD-843D-25329A0267B5}</a:tableStyleId>
              </a:tblPr>
              <a:tblGrid>
                <a:gridCol w="542250">
                  <a:extLst>
                    <a:ext uri="{9D8B030D-6E8A-4147-A177-3AD203B41FA5}">
                      <a16:colId xmlns:a16="http://schemas.microsoft.com/office/drawing/2014/main" val="20000"/>
                    </a:ext>
                  </a:extLst>
                </a:gridCol>
                <a:gridCol w="1714725">
                  <a:extLst>
                    <a:ext uri="{9D8B030D-6E8A-4147-A177-3AD203B41FA5}">
                      <a16:colId xmlns:a16="http://schemas.microsoft.com/office/drawing/2014/main" val="20001"/>
                    </a:ext>
                  </a:extLst>
                </a:gridCol>
                <a:gridCol w="1510800">
                  <a:extLst>
                    <a:ext uri="{9D8B030D-6E8A-4147-A177-3AD203B41FA5}">
                      <a16:colId xmlns:a16="http://schemas.microsoft.com/office/drawing/2014/main" val="20002"/>
                    </a:ext>
                  </a:extLst>
                </a:gridCol>
                <a:gridCol w="14211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05925">
                  <a:extLst>
                    <a:ext uri="{9D8B030D-6E8A-4147-A177-3AD203B41FA5}">
                      <a16:colId xmlns:a16="http://schemas.microsoft.com/office/drawing/2014/main" val="20005"/>
                    </a:ext>
                  </a:extLst>
                </a:gridCol>
              </a:tblGrid>
              <a:tr h="760175">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S. No.</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Author &amp; </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Paper Title </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[Citation]</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Journal/</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Conference</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(Year)</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Tools/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Techniques/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Dataset</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Key Findings/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Results</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Limitations/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Gaps Identified</a:t>
                      </a:r>
                      <a:endParaRPr/>
                    </a:p>
                  </a:txBody>
                  <a:tcPr marL="91450" marR="91450" marT="45725" marB="45725">
                    <a:solidFill>
                      <a:srgbClr val="606029"/>
                    </a:solidFill>
                  </a:tcPr>
                </a:tc>
                <a:extLst>
                  <a:ext uri="{0D108BD9-81ED-4DB2-BD59-A6C34878D82A}">
                    <a16:rowId xmlns:a16="http://schemas.microsoft.com/office/drawing/2014/main" val="10000"/>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9.</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Flrez et al., "CNN-based Eye Region Monitoring for Embedded Drowsiness Detection"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PMC PubMed Central (2024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CNN, EAR/MAR, embedded platforms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Real-time embedded deployment; effective detection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marR="0" lvl="0" indent="-95250" algn="l" rtl="0">
                        <a:spcBef>
                          <a:spcPts val="0"/>
                        </a:spcBef>
                        <a:spcAft>
                          <a:spcPts val="0"/>
                        </a:spcAft>
                        <a:buClr>
                          <a:schemeClr val="dk1"/>
                        </a:buClr>
                        <a:buSzPts val="1200"/>
                        <a:buFont typeface="Arial"/>
                        <a:buNone/>
                      </a:pPr>
                      <a:r>
                        <a:rPr lang="en-US" sz="1200">
                          <a:latin typeface="Helvetica Neue"/>
                          <a:ea typeface="Helvetica Neue"/>
                          <a:cs typeface="Helvetica Neue"/>
                          <a:sym typeface="Helvetica Neue"/>
                        </a:rPr>
                        <a:t>Real-time embedded deployment; effective detection	</a:t>
                      </a:r>
                      <a:endParaRPr sz="1200" b="0" i="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1"/>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10.</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Juan D al., "Classical ML + CNN Fusion for Driver Drowsiness"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lvl="0" indent="0" algn="l" rtl="0">
                        <a:spcBef>
                          <a:spcPts val="0"/>
                        </a:spcBef>
                        <a:spcAft>
                          <a:spcPts val="0"/>
                        </a:spcAft>
                        <a:buClr>
                          <a:schemeClr val="dk1"/>
                        </a:buClr>
                        <a:buFont typeface="Arial"/>
                        <a:buNone/>
                      </a:pPr>
                      <a:r>
                        <a:rPr lang="en-US" sz="1200">
                          <a:latin typeface="Helvetica Neue"/>
                          <a:ea typeface="Helvetica Neue"/>
                          <a:cs typeface="Helvetica Neue"/>
                          <a:sym typeface="Helvetica Neue"/>
                        </a:rPr>
                        <a:t>PMC PubMed Central (2024)</a:t>
                      </a:r>
                      <a:endParaRPr sz="12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OpenCV, TensorFlow, NTHU-DDD dataset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Efficient, non-invasive system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Issues with lighting, glasses, temporal modeling</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2"/>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11.</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Ziyad AlArnaout, Ghassan Hamra.. "Physiological signal approach using PPG/HRV + ML classifiers"</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Scientific Reports (Nature) (2025)</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PPG/HRV, ML classifiers, wearable sensor, simulated driving dataset</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Works in darkness,; complementary to vision-based systems; enables non-visual detection from heart rate variability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Requires wearable sensor; affected by motion artifacts &amp; physiological differences</a:t>
                      </a: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3"/>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12.</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Dongwook Kim et al., "facial landmark -based eye closure detection and head pose recognition"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Scientific Reports (Nature) (2023)</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Facial landmark estimation (IR imaging), head pose &amp; eyelid metrics, hybrid rule + ML logic</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Stable landmark tracking, robustness in low-light via IR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Requires IR camera hardware, higher sensor cost</a:t>
                      </a:r>
                      <a:endParaRPr sz="1200">
                        <a:latin typeface="Helvetica Neue"/>
                        <a:ea typeface="Helvetica Neue"/>
                        <a:cs typeface="Helvetica Neue"/>
                        <a:sym typeface="Helvetica Neue"/>
                      </a:endParaRPr>
                    </a:p>
                    <a:p>
                      <a:pPr marL="0" lvl="0" indent="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9"/>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Literature Review (cont…)</a:t>
            </a:r>
            <a:endParaRPr b="0"/>
          </a:p>
        </p:txBody>
      </p:sp>
      <p:sp>
        <p:nvSpPr>
          <p:cNvPr id="86" name="Google Shape;86;p9"/>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87" name="Google Shape;87;p9"/>
          <p:cNvGraphicFramePr/>
          <p:nvPr/>
        </p:nvGraphicFramePr>
        <p:xfrm>
          <a:off x="110168" y="881348"/>
          <a:ext cx="8923675" cy="5750160"/>
        </p:xfrm>
        <a:graphic>
          <a:graphicData uri="http://schemas.openxmlformats.org/drawingml/2006/table">
            <a:tbl>
              <a:tblPr firstRow="1" bandRow="1">
                <a:noFill/>
                <a:tableStyleId>{65DD5067-7E9F-42BD-843D-25329A0267B5}</a:tableStyleId>
              </a:tblPr>
              <a:tblGrid>
                <a:gridCol w="542250">
                  <a:extLst>
                    <a:ext uri="{9D8B030D-6E8A-4147-A177-3AD203B41FA5}">
                      <a16:colId xmlns:a16="http://schemas.microsoft.com/office/drawing/2014/main" val="20000"/>
                    </a:ext>
                  </a:extLst>
                </a:gridCol>
                <a:gridCol w="1760275">
                  <a:extLst>
                    <a:ext uri="{9D8B030D-6E8A-4147-A177-3AD203B41FA5}">
                      <a16:colId xmlns:a16="http://schemas.microsoft.com/office/drawing/2014/main" val="20001"/>
                    </a:ext>
                  </a:extLst>
                </a:gridCol>
                <a:gridCol w="1465250">
                  <a:extLst>
                    <a:ext uri="{9D8B030D-6E8A-4147-A177-3AD203B41FA5}">
                      <a16:colId xmlns:a16="http://schemas.microsoft.com/office/drawing/2014/main" val="20002"/>
                    </a:ext>
                  </a:extLst>
                </a:gridCol>
                <a:gridCol w="14211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05925">
                  <a:extLst>
                    <a:ext uri="{9D8B030D-6E8A-4147-A177-3AD203B41FA5}">
                      <a16:colId xmlns:a16="http://schemas.microsoft.com/office/drawing/2014/main" val="20005"/>
                    </a:ext>
                  </a:extLst>
                </a:gridCol>
              </a:tblGrid>
              <a:tr h="760175">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S. No.</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Author &amp; </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Paper Title </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[Citation]</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Journal/</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Conference</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(Year)</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Tools/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Techniques/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Dataset</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Key Findings/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Results</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Limitations/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Gaps Identified</a:t>
                      </a:r>
                      <a:endParaRPr/>
                    </a:p>
                  </a:txBody>
                  <a:tcPr marL="91450" marR="91450" marT="45725" marB="45725">
                    <a:solidFill>
                      <a:srgbClr val="606029"/>
                    </a:solidFill>
                  </a:tcPr>
                </a:tc>
                <a:extLst>
                  <a:ext uri="{0D108BD9-81ED-4DB2-BD59-A6C34878D82A}">
                    <a16:rowId xmlns:a16="http://schemas.microsoft.com/office/drawing/2014/main" val="10000"/>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13.</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Kim et al., "Face detection, facial landmarks, eye - closure filter, and head pose recognition using IR camera pipeline"</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Scientific Reports (2023)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IR camera pipeline; face/eye detection, head pose, eye-closure filter; custom IR datasets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Robust under low-light; high accuracy for eye-closure/inattention; efficient embedded deployment</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Uses non-public custom dataset; rule thresholds/camera placement may affect generalization; short evaluation</a:t>
                      </a: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1"/>
                  </a:ext>
                </a:extLst>
              </a:tr>
              <a:tr h="12111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14.</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Moujahid et al., "Face texture descriptor usingHOG, LBP, Covariance features, PCA and, SVM classification"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Expert Systems with Applications (2021)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HOG/LBP/Cov features, PCA, SVM, decision fusion; NTHU Drowsy Driver Detection dataset</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Comparable accuracy to deep models; lower computation; interpretable features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Frame-wise lacks temporal modeling; some drop for glasses/night; controlled conditions</a:t>
                      </a: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2"/>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15.</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Deng and Wu, "MC-KCF face tracking with FHOG and SqueezeNet cues"</a:t>
                      </a:r>
                      <a:endParaRPr sz="1200">
                        <a:latin typeface="Helvetica Neue"/>
                        <a:ea typeface="Helvetica Neue"/>
                        <a:cs typeface="Helvetica Neue"/>
                        <a:sym typeface="Helvetica Neue"/>
                      </a:endParaRPr>
                    </a:p>
                    <a:p>
                      <a:pPr marL="0" marR="0" lvl="0" indent="0" algn="l" rtl="0">
                        <a:spcBef>
                          <a:spcPts val="0"/>
                        </a:spcBef>
                        <a:spcAft>
                          <a:spcPts val="0"/>
                        </a:spcAft>
                        <a:buNone/>
                      </a:pPr>
                      <a:endParaRPr sz="120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IEEE Access (2019)</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MC-KCF, FHOG, SqueezeNet, 68 point landmarks, CNN cues, Celeb A, YawDD, in-car recordings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Real-time multi-cue fusion; strong accuracy under varied conditions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Degradation under glasses/dim light, tuned thresholds, not uniform public benchmarks</a:t>
                      </a: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3"/>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16.</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Ghazali et al., "Improved CAMShift for Face Tracking in Driver Fatigue Monitoring"</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050">
                          <a:latin typeface="Roboto"/>
                          <a:ea typeface="Roboto"/>
                          <a:cs typeface="Roboto"/>
                          <a:sym typeface="Roboto"/>
                        </a:rPr>
                        <a:t>IJIGSP (2013)</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Improved CAMShift, HSV seg, sub- window processing, Viola– Jones initialization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Simple, fast tracking for fatigue monitoring; tolerance to illumination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Sensitive to background/color shifts, limited evaluation, tracking only</a:t>
                      </a: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383e1f94ecf_1_0"/>
          <p:cNvSpPr txBox="1">
            <a:spLocks noGrp="1"/>
          </p:cNvSpPr>
          <p:nvPr>
            <p:ph type="title"/>
          </p:nvPr>
        </p:nvSpPr>
        <p:spPr>
          <a:xfrm>
            <a:off x="40640" y="30480"/>
            <a:ext cx="8328900" cy="694200"/>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7" lvl="0" indent="0" algn="l" rtl="0">
              <a:spcBef>
                <a:spcPts val="0"/>
              </a:spcBef>
              <a:spcAft>
                <a:spcPts val="0"/>
              </a:spcAft>
              <a:buNone/>
            </a:pPr>
            <a:r>
              <a:rPr lang="en-US" sz="2400"/>
              <a:t>Literature Review (cont…)</a:t>
            </a:r>
            <a:endParaRPr b="0"/>
          </a:p>
        </p:txBody>
      </p:sp>
      <p:sp>
        <p:nvSpPr>
          <p:cNvPr id="93" name="Google Shape;93;g383e1f94ecf_1_0"/>
          <p:cNvSpPr txBox="1"/>
          <p:nvPr/>
        </p:nvSpPr>
        <p:spPr>
          <a:xfrm>
            <a:off x="77118" y="804231"/>
            <a:ext cx="8956800" cy="5794800"/>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94" name="Google Shape;94;g383e1f94ecf_1_0"/>
          <p:cNvGraphicFramePr/>
          <p:nvPr/>
        </p:nvGraphicFramePr>
        <p:xfrm>
          <a:off x="110168" y="881348"/>
          <a:ext cx="8923675" cy="5742660"/>
        </p:xfrm>
        <a:graphic>
          <a:graphicData uri="http://schemas.openxmlformats.org/drawingml/2006/table">
            <a:tbl>
              <a:tblPr firstRow="1" bandRow="1">
                <a:noFill/>
                <a:tableStyleId>{65DD5067-7E9F-42BD-843D-25329A0267B5}</a:tableStyleId>
              </a:tblPr>
              <a:tblGrid>
                <a:gridCol w="542250">
                  <a:extLst>
                    <a:ext uri="{9D8B030D-6E8A-4147-A177-3AD203B41FA5}">
                      <a16:colId xmlns:a16="http://schemas.microsoft.com/office/drawing/2014/main" val="20000"/>
                    </a:ext>
                  </a:extLst>
                </a:gridCol>
                <a:gridCol w="1760275">
                  <a:extLst>
                    <a:ext uri="{9D8B030D-6E8A-4147-A177-3AD203B41FA5}">
                      <a16:colId xmlns:a16="http://schemas.microsoft.com/office/drawing/2014/main" val="20001"/>
                    </a:ext>
                  </a:extLst>
                </a:gridCol>
                <a:gridCol w="1465250">
                  <a:extLst>
                    <a:ext uri="{9D8B030D-6E8A-4147-A177-3AD203B41FA5}">
                      <a16:colId xmlns:a16="http://schemas.microsoft.com/office/drawing/2014/main" val="20002"/>
                    </a:ext>
                  </a:extLst>
                </a:gridCol>
                <a:gridCol w="14211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05925">
                  <a:extLst>
                    <a:ext uri="{9D8B030D-6E8A-4147-A177-3AD203B41FA5}">
                      <a16:colId xmlns:a16="http://schemas.microsoft.com/office/drawing/2014/main" val="20005"/>
                    </a:ext>
                  </a:extLst>
                </a:gridCol>
              </a:tblGrid>
              <a:tr h="760175">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S. No.</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Author &amp; </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Paper Title </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[Citation]</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Journal/</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Conference</a:t>
                      </a:r>
                      <a:br>
                        <a:rPr lang="en-US" sz="1400" b="0" i="0">
                          <a:latin typeface="Helvetica Neue"/>
                          <a:ea typeface="Helvetica Neue"/>
                          <a:cs typeface="Helvetica Neue"/>
                          <a:sym typeface="Helvetica Neue"/>
                        </a:rPr>
                      </a:br>
                      <a:r>
                        <a:rPr lang="en-US" sz="1400" b="0" i="0">
                          <a:latin typeface="Helvetica Neue"/>
                          <a:ea typeface="Helvetica Neue"/>
                          <a:cs typeface="Helvetica Neue"/>
                          <a:sym typeface="Helvetica Neue"/>
                        </a:rPr>
                        <a:t>(Year)</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Tools/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Techniques/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Dataset</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Key Findings/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Results</a:t>
                      </a:r>
                      <a:endParaRPr/>
                    </a:p>
                  </a:txBody>
                  <a:tcPr marL="91450" marR="91450" marT="45725" marB="45725">
                    <a:solidFill>
                      <a:srgbClr val="606029"/>
                    </a:solidFill>
                  </a:tcPr>
                </a:tc>
                <a:tc>
                  <a:txBody>
                    <a:bodyPr/>
                    <a:lstStyle/>
                    <a:p>
                      <a:pPr marL="0" marR="0" lvl="0" indent="0" algn="ctr" rtl="0">
                        <a:spcBef>
                          <a:spcPts val="0"/>
                        </a:spcBef>
                        <a:spcAft>
                          <a:spcPts val="0"/>
                        </a:spcAft>
                        <a:buNone/>
                      </a:pPr>
                      <a:r>
                        <a:rPr lang="en-US" sz="1400" b="0" i="0">
                          <a:latin typeface="Helvetica Neue"/>
                          <a:ea typeface="Helvetica Neue"/>
                          <a:cs typeface="Helvetica Neue"/>
                          <a:sym typeface="Helvetica Neue"/>
                        </a:rPr>
                        <a:t>Limitations/</a:t>
                      </a:r>
                      <a:endParaRPr/>
                    </a:p>
                    <a:p>
                      <a:pPr marL="0" marR="0" lvl="0" indent="0" algn="ctr" rtl="0">
                        <a:spcBef>
                          <a:spcPts val="0"/>
                        </a:spcBef>
                        <a:spcAft>
                          <a:spcPts val="0"/>
                        </a:spcAft>
                        <a:buNone/>
                      </a:pPr>
                      <a:r>
                        <a:rPr lang="en-US" sz="1400" b="0" i="0">
                          <a:latin typeface="Helvetica Neue"/>
                          <a:ea typeface="Helvetica Neue"/>
                          <a:cs typeface="Helvetica Neue"/>
                          <a:sym typeface="Helvetica Neue"/>
                        </a:rPr>
                        <a:t>Gaps Identified</a:t>
                      </a:r>
                      <a:endParaRPr/>
                    </a:p>
                  </a:txBody>
                  <a:tcPr marL="91450" marR="91450" marT="45725" marB="45725">
                    <a:solidFill>
                      <a:srgbClr val="606029"/>
                    </a:solidFill>
                  </a:tcPr>
                </a:tc>
                <a:extLst>
                  <a:ext uri="{0D108BD9-81ED-4DB2-BD59-A6C34878D82A}">
                    <a16:rowId xmlns:a16="http://schemas.microsoft.com/office/drawing/2014/main" val="10000"/>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a:t>
                      </a:r>
                      <a:r>
                        <a:rPr lang="en-US" sz="1200">
                          <a:latin typeface="Helvetica Neue"/>
                          <a:ea typeface="Helvetica Neue"/>
                          <a:cs typeface="Helvetica Neue"/>
                          <a:sym typeface="Helvetica Neue"/>
                        </a:rPr>
                        <a:t>7</a:t>
                      </a:r>
                      <a:r>
                        <a:rPr lang="en-US" sz="1200" b="0" i="0">
                          <a:latin typeface="Helvetica Neue"/>
                          <a:ea typeface="Helvetica Neue"/>
                          <a:cs typeface="Helvetica Neue"/>
                          <a:sym typeface="Helvetica Neue"/>
                        </a:rPr>
                        <a:t>.</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Chongqing Jiaotong Univ., "Lightweight YOLOv5s + 3D facial keypoints (Attention Mesh)",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Sensors (MDPI), 2023</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Lightweight YOLOv5s, 3D facial keypoints,, Custom in-car driving dataset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Detects fatigue in real time with lightweight models; works real-time on embedded devices; robust to face pose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Needs precise facial landmark extraction; limited generalization</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1"/>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a:t>
                      </a:r>
                      <a:r>
                        <a:rPr lang="en-US" sz="1200">
                          <a:latin typeface="Helvetica Neue"/>
                          <a:ea typeface="Helvetica Neue"/>
                          <a:cs typeface="Helvetica Neue"/>
                          <a:sym typeface="Helvetica Neue"/>
                        </a:rPr>
                        <a:t>8</a:t>
                      </a:r>
                      <a:r>
                        <a:rPr lang="en-US" sz="1200" b="0" i="0">
                          <a:latin typeface="Helvetica Neue"/>
                          <a:ea typeface="Helvetica Neue"/>
                          <a:cs typeface="Helvetica Neue"/>
                          <a:sym typeface="Helvetica Neue"/>
                        </a:rPr>
                        <a:t>.</a:t>
                      </a:r>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Archita Bhanja et al., “Vision-based drowsiness detection using eye images”</a:t>
                      </a:r>
                      <a:endParaRPr sz="1200">
                        <a:latin typeface="Helvetica Neue"/>
                        <a:ea typeface="Helvetica Neue"/>
                        <a:cs typeface="Helvetica Neue"/>
                        <a:sym typeface="Helvetica Neue"/>
                      </a:endParaRPr>
                    </a:p>
                    <a:p>
                      <a:pPr marL="0" marR="0" lvl="0" indent="0" algn="l" rtl="0">
                        <a:spcBef>
                          <a:spcPts val="0"/>
                        </a:spcBef>
                        <a:spcAft>
                          <a:spcPts val="0"/>
                        </a:spcAft>
                        <a:buNone/>
                      </a:pPr>
                      <a:endParaRPr sz="12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Robomech Journal (2025)</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Vision-based: eye images, face/eye detection/classification; MRL Eye Dataset</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Real-time, lightweight; high precision with MobileNet</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Limited to eye closure</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detection; misses</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cues like yawning,</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head pose</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2"/>
                  </a:ext>
                </a:extLst>
              </a:tr>
              <a:tr h="1203625">
                <a:tc>
                  <a:txBody>
                    <a:bodyPr/>
                    <a:lstStyle/>
                    <a:p>
                      <a:pPr marL="0" marR="0" lvl="0" indent="0" algn="ctr" rtl="0">
                        <a:spcBef>
                          <a:spcPts val="0"/>
                        </a:spcBef>
                        <a:spcAft>
                          <a:spcPts val="0"/>
                        </a:spcAft>
                        <a:buNone/>
                      </a:pPr>
                      <a:r>
                        <a:rPr lang="en-US" sz="1200" b="0" i="0">
                          <a:latin typeface="Helvetica Neue"/>
                          <a:ea typeface="Helvetica Neue"/>
                          <a:cs typeface="Helvetica Neue"/>
                          <a:sym typeface="Helvetica Neue"/>
                        </a:rPr>
                        <a:t>1</a:t>
                      </a:r>
                      <a:r>
                        <a:rPr lang="en-US" sz="1200">
                          <a:latin typeface="Helvetica Neue"/>
                          <a:ea typeface="Helvetica Neue"/>
                          <a:cs typeface="Helvetica Neue"/>
                          <a:sym typeface="Helvetica Neue"/>
                        </a:rPr>
                        <a:t>9</a:t>
                      </a:r>
                      <a:r>
                        <a:rPr lang="en-US" sz="1200" b="0" i="0">
                          <a:latin typeface="Helvetica Neue"/>
                          <a:ea typeface="Helvetica Neue"/>
                          <a:cs typeface="Helvetica Neue"/>
                          <a:sym typeface="Helvetica Neue"/>
                        </a:rPr>
                        <a:t>.</a:t>
                      </a:r>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Ebru Civik, Serkan, “Lightweight CNN models, quantization &amp; pruning for Jetson Nano; EAR, MAR + temporal smoothing”</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Sensors (2023)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Lightweight CNNs; EAR/MAR metrics; Jetson Nano; temporal smoothing; public datasets	</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Deep model optimization for real time detection; stable facial landmark tracking via IR</a:t>
                      </a:r>
                      <a:endParaRPr sz="1200" b="0" i="0">
                        <a:latin typeface="Helvetica Neue"/>
                        <a:ea typeface="Helvetica Neue"/>
                        <a:cs typeface="Helvetica Neue"/>
                        <a:sym typeface="Helvetica Neue"/>
                      </a:endParaRPr>
                    </a:p>
                  </a:txBody>
                  <a:tcPr marL="91450" marR="91450" marT="45725" marB="45725">
                    <a:solidFill>
                      <a:srgbClr val="D5D59B"/>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Requires IR camera hardware; higher sensor cost</a:t>
                      </a:r>
                      <a:endParaRPr sz="1200">
                        <a:latin typeface="Helvetica Neue"/>
                        <a:ea typeface="Helvetica Neue"/>
                        <a:cs typeface="Helvetica Neue"/>
                        <a:sym typeface="Helvetica Neue"/>
                      </a:endParaRPr>
                    </a:p>
                    <a:p>
                      <a:pPr marL="171450" lvl="0" indent="-95250" algn="l" rtl="0">
                        <a:spcBef>
                          <a:spcPts val="0"/>
                        </a:spcBef>
                        <a:spcAft>
                          <a:spcPts val="0"/>
                        </a:spcAft>
                        <a:buClr>
                          <a:schemeClr val="dk1"/>
                        </a:buClr>
                        <a:buSzPts val="1100"/>
                        <a:buFont typeface="Arial"/>
                        <a:buNone/>
                      </a:pP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D5D59B"/>
                    </a:solidFill>
                  </a:tcPr>
                </a:tc>
                <a:extLst>
                  <a:ext uri="{0D108BD9-81ED-4DB2-BD59-A6C34878D82A}">
                    <a16:rowId xmlns:a16="http://schemas.microsoft.com/office/drawing/2014/main" val="10003"/>
                  </a:ext>
                </a:extLst>
              </a:tr>
              <a:tr h="1203625">
                <a:tc>
                  <a:txBody>
                    <a:bodyPr/>
                    <a:lstStyle/>
                    <a:p>
                      <a:pPr marL="0" marR="0" lvl="0" indent="0" algn="ctr" rtl="0">
                        <a:spcBef>
                          <a:spcPts val="0"/>
                        </a:spcBef>
                        <a:spcAft>
                          <a:spcPts val="0"/>
                        </a:spcAft>
                        <a:buNone/>
                      </a:pPr>
                      <a:r>
                        <a:rPr lang="en-US" sz="1200">
                          <a:latin typeface="Helvetica Neue"/>
                          <a:ea typeface="Helvetica Neue"/>
                          <a:cs typeface="Helvetica Neue"/>
                          <a:sym typeface="Helvetica Neue"/>
                        </a:rPr>
                        <a:t>20</a:t>
                      </a:r>
                      <a:r>
                        <a:rPr lang="en-US" sz="1200" b="0" i="0">
                          <a:latin typeface="Helvetica Neue"/>
                          <a:ea typeface="Helvetica Neue"/>
                          <a:cs typeface="Helvetica Neue"/>
                          <a:sym typeface="Helvetica Neue"/>
                        </a:rPr>
                        <a:t>.</a:t>
                      </a:r>
                      <a:endParaRPr/>
                    </a:p>
                  </a:txBody>
                  <a:tcPr marL="91450" marR="91450" marT="45725" marB="45725">
                    <a:solidFill>
                      <a:srgbClr val="F0F0DD"/>
                    </a:solidFill>
                  </a:tcPr>
                </a:tc>
                <a:tc>
                  <a:txBody>
                    <a:bodyPr/>
                    <a:lstStyle/>
                    <a:p>
                      <a:pPr marL="0" lvl="0" indent="0" algn="l" rtl="0">
                        <a:spcBef>
                          <a:spcPts val="0"/>
                        </a:spcBef>
                        <a:spcAft>
                          <a:spcPts val="0"/>
                        </a:spcAft>
                        <a:buSzPts val="1100"/>
                        <a:buNone/>
                      </a:pPr>
                      <a:r>
                        <a:rPr lang="en-US" sz="1200">
                          <a:latin typeface="Helvetica Neue"/>
                          <a:ea typeface="Helvetica Neue"/>
                          <a:cs typeface="Helvetica Neue"/>
                          <a:sym typeface="Helvetica Neue"/>
                        </a:rPr>
                        <a:t>Lie Yang, Haohan Yang, Henglai Wei, "VBFLFA: facial landmark detection with PFLD; CSP-based spatial filtering"</a:t>
                      </a:r>
                      <a:endParaRPr sz="12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IEEE Access (2024)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Facial landmark detection, head pose, spatial filtering, VBDDD dataset, YawDD/ NTHU-DDD</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l" rtl="0">
                        <a:spcBef>
                          <a:spcPts val="0"/>
                        </a:spcBef>
                        <a:spcAft>
                          <a:spcPts val="0"/>
                        </a:spcAft>
                        <a:buNone/>
                      </a:pPr>
                      <a:r>
                        <a:rPr lang="en-US" sz="1200">
                          <a:latin typeface="Helvetica Neue"/>
                          <a:ea typeface="Helvetica Neue"/>
                          <a:cs typeface="Helvetica Neue"/>
                          <a:sym typeface="Helvetica Neue"/>
                        </a:rPr>
                        <a:t>Outperforms prior on YawDD/NTHU-DDD; CSP improves accuracy and computation, robust to occlusion	</a:t>
                      </a:r>
                      <a:endParaRPr sz="12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lvl="0" indent="-95250" algn="l" rtl="0">
                        <a:spcBef>
                          <a:spcPts val="0"/>
                        </a:spcBef>
                        <a:spcAft>
                          <a:spcPts val="0"/>
                        </a:spcAft>
                        <a:buClr>
                          <a:schemeClr val="dk1"/>
                        </a:buClr>
                        <a:buSzPts val="1100"/>
                        <a:buFont typeface="Arial"/>
                        <a:buNone/>
                      </a:pPr>
                      <a:r>
                        <a:rPr lang="en-US" sz="1200">
                          <a:latin typeface="Helvetica Neue"/>
                          <a:ea typeface="Helvetica Neue"/>
                          <a:cs typeface="Helvetica Neue"/>
                          <a:sym typeface="Helvetica Neue"/>
                        </a:rPr>
                        <a:t>Dependent on landmark quality, occlusion/illumination issues, datasets are simulated</a:t>
                      </a:r>
                      <a:endParaRPr sz="1200">
                        <a:latin typeface="Helvetica Neue"/>
                        <a:ea typeface="Helvetica Neue"/>
                        <a:cs typeface="Helvetica Neue"/>
                        <a:sym typeface="Helvetica Neue"/>
                      </a:endParaRPr>
                    </a:p>
                    <a:p>
                      <a:pPr marL="171450" marR="0" lvl="0" indent="-95250" algn="l" rtl="0">
                        <a:spcBef>
                          <a:spcPts val="0"/>
                        </a:spcBef>
                        <a:spcAft>
                          <a:spcPts val="0"/>
                        </a:spcAft>
                        <a:buClr>
                          <a:schemeClr val="dk1"/>
                        </a:buClr>
                        <a:buSzPts val="1200"/>
                        <a:buFont typeface="Arial"/>
                        <a:buNone/>
                      </a:pPr>
                      <a:endParaRPr sz="120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dirty="0">
                <a:ea typeface="Palatino" pitchFamily="2" charset="77"/>
              </a:rPr>
              <a:t>Work Done (after Mid-Term Evaluation)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GB" dirty="0">
                <a:ea typeface="Palatino" pitchFamily="2" charset="77"/>
              </a:rPr>
              <a:t>Trained CNN model; applied dropout regularization and data augmentation to prevent overfitting.</a:t>
            </a:r>
          </a:p>
          <a:p>
            <a:pPr marL="357188" indent="-261938"/>
            <a:r>
              <a:rPr lang="en-GB" sz="1800" dirty="0">
                <a:ea typeface="Palatino" pitchFamily="2" charset="77"/>
              </a:rPr>
              <a:t>Integrated Haar Cascade detection, temporal scoring mechanism, and audio-visual alert system; achieved 18-22 FPS on consumer hardware.</a:t>
            </a:r>
          </a:p>
          <a:p>
            <a:pPr marL="357188" indent="-261938"/>
            <a:r>
              <a:rPr lang="en-GB" sz="1800" dirty="0">
                <a:ea typeface="Palatino" pitchFamily="2" charset="77"/>
              </a:rPr>
              <a:t>Conducted unit, integration, and performance testing; validated &gt;92% accuracy, ≤8% false positive rate, &gt;2 hours system stability</a:t>
            </a:r>
          </a:p>
          <a:p>
            <a:pPr marL="357188" indent="-261938"/>
            <a:r>
              <a:rPr lang="en-GB" sz="1800" dirty="0">
                <a:ea typeface="Palatino" pitchFamily="2" charset="77"/>
              </a:rPr>
              <a:t>Completed technical report, presentation materials, and GitHub repository with full source code and performance metrics</a:t>
            </a:r>
            <a:endParaRPr lang="en-IN" sz="1800" dirty="0">
              <a:ea typeface="Palatino" pitchFamily="2" charset="77"/>
            </a:endParaRPr>
          </a:p>
        </p:txBody>
      </p:sp>
    </p:spTree>
    <p:extLst>
      <p:ext uri="{BB962C8B-B14F-4D97-AF65-F5344CB8AC3E}">
        <p14:creationId xmlns:p14="http://schemas.microsoft.com/office/powerpoint/2010/main" val="998922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1"/>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Project Design</a:t>
            </a:r>
            <a:endParaRPr/>
          </a:p>
        </p:txBody>
      </p:sp>
      <p:sp>
        <p:nvSpPr>
          <p:cNvPr id="101" name="Google Shape;101;p11"/>
          <p:cNvSpPr txBox="1"/>
          <p:nvPr/>
        </p:nvSpPr>
        <p:spPr>
          <a:xfrm>
            <a:off x="2750549" y="4891750"/>
            <a:ext cx="3642900" cy="36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dk1"/>
                </a:solidFill>
                <a:latin typeface="Cardo"/>
                <a:ea typeface="Cardo"/>
                <a:cs typeface="Cardo"/>
                <a:sym typeface="Cardo"/>
              </a:rPr>
              <a:t>Figure 1: Algorithmic Workflow</a:t>
            </a:r>
            <a:endParaRPr sz="1200" dirty="0">
              <a:solidFill>
                <a:schemeClr val="dk1"/>
              </a:solidFill>
              <a:latin typeface="Cardo"/>
              <a:ea typeface="Cardo"/>
              <a:cs typeface="Cardo"/>
              <a:sym typeface="Cardo"/>
            </a:endParaRPr>
          </a:p>
        </p:txBody>
      </p:sp>
      <p:pic>
        <p:nvPicPr>
          <p:cNvPr id="5" name="Picture 4">
            <a:extLst>
              <a:ext uri="{FF2B5EF4-FFF2-40B4-BE49-F238E27FC236}">
                <a16:creationId xmlns:a16="http://schemas.microsoft.com/office/drawing/2014/main" id="{5B4F0DA6-E868-BB1F-98A8-110B1838D17F}"/>
              </a:ext>
            </a:extLst>
          </p:cNvPr>
          <p:cNvPicPr>
            <a:picLocks noChangeAspect="1"/>
          </p:cNvPicPr>
          <p:nvPr/>
        </p:nvPicPr>
        <p:blipFill>
          <a:blip r:embed="rId3"/>
          <a:srcRect b="37025"/>
          <a:stretch>
            <a:fillRect/>
          </a:stretch>
        </p:blipFill>
        <p:spPr>
          <a:xfrm>
            <a:off x="147637" y="1399328"/>
            <a:ext cx="8848725" cy="33536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2"/>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Project Design </a:t>
            </a:r>
            <a:r>
              <a:rPr lang="en-US" sz="2400" b="0"/>
              <a:t>(cont…)</a:t>
            </a:r>
            <a:endParaRPr b="0"/>
          </a:p>
        </p:txBody>
      </p:sp>
      <p:sp>
        <p:nvSpPr>
          <p:cNvPr id="3" name="Google Shape;115;g3845852b172_0_4">
            <a:extLst>
              <a:ext uri="{FF2B5EF4-FFF2-40B4-BE49-F238E27FC236}">
                <a16:creationId xmlns:a16="http://schemas.microsoft.com/office/drawing/2014/main" id="{101BB72E-A6F7-1118-F26F-287C4DF7AC35}"/>
              </a:ext>
            </a:extLst>
          </p:cNvPr>
          <p:cNvSpPr txBox="1">
            <a:spLocks noGrp="1"/>
          </p:cNvSpPr>
          <p:nvPr>
            <p:ph type="body" idx="1"/>
          </p:nvPr>
        </p:nvSpPr>
        <p:spPr>
          <a:xfrm>
            <a:off x="114300" y="851220"/>
            <a:ext cx="8953500" cy="5976300"/>
          </a:xfrm>
          <a:prstGeom prst="rect">
            <a:avLst/>
          </a:prstGeom>
        </p:spPr>
        <p:txBody>
          <a:bodyPr spcFirstLastPara="1" wrap="square" lIns="91425" tIns="45700" rIns="91425" bIns="45700" anchor="t" anchorCtr="0">
            <a:noAutofit/>
          </a:bodyPr>
          <a:lstStyle/>
          <a:p>
            <a:r>
              <a:rPr lang="en-GB" dirty="0">
                <a:latin typeface="+mn-lt"/>
              </a:rPr>
              <a:t>The diagram illustrates the real‑time drowsiness detection pipeline, starting from webcam frame capture, grayscale conversion, and face detection.</a:t>
            </a:r>
          </a:p>
          <a:p>
            <a:r>
              <a:rPr lang="en-GB" dirty="0">
                <a:latin typeface="+mn-lt"/>
              </a:rPr>
              <a:t>If a face is found, the system detects eyes, preprocesses the eye region, and updates a drowsiness score based on whether the eyes are closed or open across consecutive frames. </a:t>
            </a:r>
          </a:p>
          <a:p>
            <a:r>
              <a:rPr lang="en-GB" dirty="0">
                <a:latin typeface="+mn-lt"/>
              </a:rPr>
              <a:t>When this score crosses a predefined threshold, an alarm is triggered and the event is logged, otherwise the system continues monitoring and displaying the processed frame.</a:t>
            </a:r>
            <a:endParaRPr lang="en-IN" dirty="0">
              <a:latin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845852b172_0_4"/>
          <p:cNvSpPr txBox="1">
            <a:spLocks noGrp="1"/>
          </p:cNvSpPr>
          <p:nvPr>
            <p:ph type="title"/>
          </p:nvPr>
        </p:nvSpPr>
        <p:spPr>
          <a:xfrm>
            <a:off x="40640" y="30480"/>
            <a:ext cx="8328900" cy="694200"/>
          </a:xfrm>
          <a:prstGeom prst="rect">
            <a:avLst/>
          </a:prstGeom>
        </p:spPr>
        <p:txBody>
          <a:bodyPr spcFirstLastPara="1" wrap="square" lIns="91425" tIns="45700" rIns="91425" bIns="45700" anchor="ctr" anchorCtr="0">
            <a:noAutofit/>
          </a:bodyPr>
          <a:lstStyle/>
          <a:p>
            <a:pPr marL="90487" lvl="0" indent="0" algn="l" rtl="0">
              <a:spcBef>
                <a:spcPts val="0"/>
              </a:spcBef>
              <a:spcAft>
                <a:spcPts val="0"/>
              </a:spcAft>
              <a:buNone/>
            </a:pPr>
            <a:r>
              <a:rPr lang="en-US"/>
              <a:t>Project Design </a:t>
            </a:r>
            <a:r>
              <a:rPr lang="en-US" b="0"/>
              <a:t>(cont…)</a:t>
            </a:r>
            <a:endParaRPr/>
          </a:p>
        </p:txBody>
      </p:sp>
      <p:sp>
        <p:nvSpPr>
          <p:cNvPr id="115" name="Google Shape;115;g3845852b172_0_4"/>
          <p:cNvSpPr txBox="1">
            <a:spLocks noGrp="1"/>
          </p:cNvSpPr>
          <p:nvPr>
            <p:ph type="body" idx="1"/>
          </p:nvPr>
        </p:nvSpPr>
        <p:spPr>
          <a:xfrm>
            <a:off x="86197" y="782321"/>
            <a:ext cx="8953500" cy="5976300"/>
          </a:xfrm>
          <a:prstGeom prst="rect">
            <a:avLst/>
          </a:prstGeom>
        </p:spPr>
        <p:txBody>
          <a:bodyPr spcFirstLastPara="1" wrap="square" lIns="91425" tIns="45700" rIns="91425" bIns="45700" anchor="t" anchorCtr="0">
            <a:noAutofit/>
          </a:bodyPr>
          <a:lstStyle/>
          <a:p>
            <a:pPr marL="0" lvl="0" indent="457200" rtl="0">
              <a:spcBef>
                <a:spcPts val="0"/>
              </a:spcBef>
              <a:spcAft>
                <a:spcPts val="0"/>
              </a:spcAft>
              <a:buNone/>
            </a:pPr>
            <a:r>
              <a:rPr lang="en-US" b="1" dirty="0">
                <a:latin typeface="Arial"/>
                <a:ea typeface="Arial"/>
                <a:cs typeface="Arial"/>
                <a:sym typeface="Arial"/>
              </a:rPr>
              <a:t>Driver Video Input</a:t>
            </a:r>
            <a:endParaRPr b="1" dirty="0">
              <a:latin typeface="Arial"/>
              <a:ea typeface="Arial"/>
              <a:cs typeface="Arial"/>
              <a:sym typeface="Arial"/>
            </a:endParaRPr>
          </a:p>
          <a:p>
            <a:pPr marL="447675" lvl="0" indent="-231775" rtl="0">
              <a:spcBef>
                <a:spcPts val="0"/>
              </a:spcBef>
              <a:spcAft>
                <a:spcPts val="0"/>
              </a:spcAft>
              <a:buSzPts val="1800"/>
              <a:buChar char="•"/>
            </a:pPr>
            <a:r>
              <a:rPr lang="en-US" dirty="0">
                <a:latin typeface="Arial"/>
                <a:ea typeface="Arial"/>
                <a:cs typeface="Arial"/>
                <a:sym typeface="Arial"/>
              </a:rPr>
              <a:t>The driver provides a live video feed using an in-car camera or standard USB webcam.</a:t>
            </a:r>
            <a:endParaRPr dirty="0">
              <a:latin typeface="Arial"/>
              <a:ea typeface="Arial"/>
              <a:cs typeface="Arial"/>
              <a:sym typeface="Arial"/>
            </a:endParaRPr>
          </a:p>
          <a:p>
            <a:pPr marL="447675" lvl="0" indent="-231775" rtl="0">
              <a:spcBef>
                <a:spcPts val="0"/>
              </a:spcBef>
              <a:spcAft>
                <a:spcPts val="0"/>
              </a:spcAft>
              <a:buSzPts val="1800"/>
              <a:buChar char="•"/>
            </a:pPr>
            <a:r>
              <a:rPr lang="en-US" dirty="0">
                <a:latin typeface="Arial"/>
                <a:ea typeface="Arial"/>
                <a:cs typeface="Arial"/>
                <a:sym typeface="Arial"/>
              </a:rPr>
              <a:t>Technology: </a:t>
            </a:r>
            <a:r>
              <a:rPr lang="en-GB" dirty="0">
                <a:latin typeface="Arial"/>
                <a:ea typeface="Arial"/>
                <a:cs typeface="Arial"/>
                <a:sym typeface="Arial"/>
              </a:rPr>
              <a:t>OpenCV's cv2.VideoCapture() for real-time capture.</a:t>
            </a:r>
          </a:p>
          <a:p>
            <a:pPr marL="123825" lvl="0" indent="0" rtl="0">
              <a:spcBef>
                <a:spcPts val="0"/>
              </a:spcBef>
              <a:spcAft>
                <a:spcPts val="0"/>
              </a:spcAft>
              <a:buSzPts val="1800"/>
              <a:buNone/>
            </a:pPr>
            <a:endParaRPr dirty="0">
              <a:latin typeface="Arial"/>
              <a:ea typeface="Arial"/>
              <a:cs typeface="Arial"/>
              <a:sym typeface="Arial"/>
            </a:endParaRPr>
          </a:p>
          <a:p>
            <a:pPr marL="457200" lvl="0" indent="0" rtl="0">
              <a:spcBef>
                <a:spcPts val="0"/>
              </a:spcBef>
              <a:spcAft>
                <a:spcPts val="0"/>
              </a:spcAft>
              <a:buNone/>
            </a:pPr>
            <a:r>
              <a:rPr lang="en-US" b="1" dirty="0">
                <a:latin typeface="Arial"/>
                <a:ea typeface="Arial"/>
                <a:cs typeface="Arial"/>
                <a:sym typeface="Arial"/>
              </a:rPr>
              <a:t>Video Capture Module</a:t>
            </a:r>
            <a:endParaRPr b="1" dirty="0">
              <a:latin typeface="Arial"/>
              <a:ea typeface="Arial"/>
              <a:cs typeface="Arial"/>
              <a:sym typeface="Arial"/>
            </a:endParaRPr>
          </a:p>
          <a:p>
            <a:pPr marL="457200" lvl="0" indent="-342900" rtl="0">
              <a:spcBef>
                <a:spcPts val="0"/>
              </a:spcBef>
              <a:spcAft>
                <a:spcPts val="0"/>
              </a:spcAft>
              <a:buSzPts val="1800"/>
              <a:buChar char="•"/>
            </a:pPr>
            <a:r>
              <a:rPr lang="en-US" dirty="0">
                <a:latin typeface="Arial"/>
                <a:ea typeface="Arial"/>
                <a:cs typeface="Arial"/>
                <a:sym typeface="Arial"/>
              </a:rPr>
              <a:t>Captures and processes the incoming video stream from the camera.</a:t>
            </a:r>
            <a:endParaRPr dirty="0">
              <a:latin typeface="Arial"/>
              <a:ea typeface="Arial"/>
              <a:cs typeface="Arial"/>
              <a:sym typeface="Arial"/>
            </a:endParaRPr>
          </a:p>
          <a:p>
            <a:pPr marL="457200" lvl="0" indent="-342900" rtl="0">
              <a:spcBef>
                <a:spcPts val="0"/>
              </a:spcBef>
              <a:spcAft>
                <a:spcPts val="0"/>
              </a:spcAft>
              <a:buSzPts val="1800"/>
              <a:buChar char="•"/>
            </a:pPr>
            <a:r>
              <a:rPr lang="en-US" dirty="0">
                <a:latin typeface="Arial"/>
                <a:ea typeface="Arial"/>
                <a:cs typeface="Arial"/>
                <a:sym typeface="Arial"/>
              </a:rPr>
              <a:t>Technology: Python (cv2.VideoCapture from OpenCV library).</a:t>
            </a:r>
            <a:endParaRPr dirty="0">
              <a:latin typeface="Arial"/>
              <a:ea typeface="Arial"/>
              <a:cs typeface="Arial"/>
              <a:sym typeface="Arial"/>
            </a:endParaRPr>
          </a:p>
          <a:p>
            <a:pPr marL="0" lvl="0" indent="0" rtl="0">
              <a:spcBef>
                <a:spcPts val="0"/>
              </a:spcBef>
              <a:spcAft>
                <a:spcPts val="0"/>
              </a:spcAft>
              <a:buNone/>
            </a:pPr>
            <a:endParaRPr dirty="0">
              <a:latin typeface="Arial"/>
              <a:ea typeface="Arial"/>
              <a:cs typeface="Arial"/>
              <a:sym typeface="Arial"/>
            </a:endParaRPr>
          </a:p>
          <a:p>
            <a:pPr marL="457200" lvl="0" indent="0" rtl="0">
              <a:spcBef>
                <a:spcPts val="0"/>
              </a:spcBef>
              <a:spcAft>
                <a:spcPts val="0"/>
              </a:spcAft>
              <a:buNone/>
            </a:pPr>
            <a:r>
              <a:rPr lang="en-US" b="1" dirty="0">
                <a:latin typeface="Arial"/>
                <a:ea typeface="Arial"/>
                <a:cs typeface="Arial"/>
                <a:sym typeface="Arial"/>
              </a:rPr>
              <a:t>Face Detection Module</a:t>
            </a:r>
            <a:endParaRPr b="1" dirty="0">
              <a:latin typeface="Arial"/>
              <a:ea typeface="Arial"/>
              <a:cs typeface="Arial"/>
              <a:sym typeface="Arial"/>
            </a:endParaRPr>
          </a:p>
          <a:p>
            <a:pPr marL="457200" lvl="0" indent="-342900" rtl="0">
              <a:spcBef>
                <a:spcPts val="0"/>
              </a:spcBef>
              <a:spcAft>
                <a:spcPts val="0"/>
              </a:spcAft>
              <a:buSzPts val="1800"/>
              <a:buChar char="•"/>
            </a:pPr>
            <a:r>
              <a:rPr lang="en-US" dirty="0">
                <a:latin typeface="Arial"/>
                <a:ea typeface="Arial"/>
                <a:cs typeface="Arial"/>
                <a:sym typeface="Arial"/>
              </a:rPr>
              <a:t>Detects and extracts the face region from video frames.</a:t>
            </a:r>
            <a:endParaRPr dirty="0">
              <a:latin typeface="Arial"/>
              <a:ea typeface="Arial"/>
              <a:cs typeface="Arial"/>
              <a:sym typeface="Arial"/>
            </a:endParaRPr>
          </a:p>
          <a:p>
            <a:pPr marL="457200" lvl="0" indent="-342900" rtl="0">
              <a:spcBef>
                <a:spcPts val="0"/>
              </a:spcBef>
              <a:spcAft>
                <a:spcPts val="0"/>
              </a:spcAft>
              <a:buSzPts val="1800"/>
              <a:buChar char="•"/>
            </a:pPr>
            <a:r>
              <a:rPr lang="en-US" dirty="0">
                <a:latin typeface="Arial"/>
                <a:ea typeface="Arial"/>
                <a:cs typeface="Arial"/>
                <a:sym typeface="Arial"/>
              </a:rPr>
              <a:t>Technology: OpenCV (Haar Cascade Classifiers or DNN modules).</a:t>
            </a:r>
            <a:endParaRPr dirty="0">
              <a:latin typeface="Arial"/>
              <a:ea typeface="Arial"/>
              <a:cs typeface="Arial"/>
              <a:sym typeface="Arial"/>
            </a:endParaRPr>
          </a:p>
          <a:p>
            <a:pPr marL="457200" lvl="0" indent="0" rtl="0">
              <a:spcBef>
                <a:spcPts val="0"/>
              </a:spcBef>
              <a:spcAft>
                <a:spcPts val="0"/>
              </a:spcAft>
              <a:buNone/>
            </a:pPr>
            <a:endParaRPr dirty="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845852b172_0_12"/>
          <p:cNvSpPr txBox="1">
            <a:spLocks noGrp="1"/>
          </p:cNvSpPr>
          <p:nvPr>
            <p:ph type="title"/>
          </p:nvPr>
        </p:nvSpPr>
        <p:spPr>
          <a:xfrm>
            <a:off x="40640" y="30480"/>
            <a:ext cx="8328900" cy="694200"/>
          </a:xfrm>
          <a:prstGeom prst="rect">
            <a:avLst/>
          </a:prstGeom>
        </p:spPr>
        <p:txBody>
          <a:bodyPr spcFirstLastPara="1" wrap="square" lIns="91425" tIns="45700" rIns="91425" bIns="45700" anchor="ctr" anchorCtr="0">
            <a:noAutofit/>
          </a:bodyPr>
          <a:lstStyle/>
          <a:p>
            <a:pPr marL="90487" lvl="0" indent="0" algn="l" rtl="0">
              <a:spcBef>
                <a:spcPts val="0"/>
              </a:spcBef>
              <a:spcAft>
                <a:spcPts val="0"/>
              </a:spcAft>
              <a:buNone/>
            </a:pPr>
            <a:r>
              <a:rPr lang="en-US"/>
              <a:t>Project Design </a:t>
            </a:r>
            <a:r>
              <a:rPr lang="en-US" b="0"/>
              <a:t>(cont…)</a:t>
            </a:r>
            <a:endParaRPr/>
          </a:p>
        </p:txBody>
      </p:sp>
      <p:sp>
        <p:nvSpPr>
          <p:cNvPr id="122" name="Google Shape;122;g3845852b172_0_12"/>
          <p:cNvSpPr txBox="1">
            <a:spLocks noGrp="1"/>
          </p:cNvSpPr>
          <p:nvPr>
            <p:ph type="body" idx="1"/>
          </p:nvPr>
        </p:nvSpPr>
        <p:spPr>
          <a:xfrm>
            <a:off x="86197" y="782321"/>
            <a:ext cx="8283343" cy="5976300"/>
          </a:xfrm>
          <a:prstGeom prst="rect">
            <a:avLst/>
          </a:prstGeom>
        </p:spPr>
        <p:txBody>
          <a:bodyPr spcFirstLastPara="1" wrap="square" lIns="91425" tIns="45700" rIns="91425" bIns="45700" anchor="t" anchorCtr="0">
            <a:noAutofit/>
          </a:bodyPr>
          <a:lstStyle/>
          <a:p>
            <a:pPr marL="0" lvl="0" indent="457200" rtl="0">
              <a:spcBef>
                <a:spcPts val="0"/>
              </a:spcBef>
              <a:spcAft>
                <a:spcPts val="0"/>
              </a:spcAft>
              <a:buNone/>
            </a:pPr>
            <a:r>
              <a:rPr lang="en-US" b="1" dirty="0">
                <a:latin typeface="Arial"/>
                <a:ea typeface="Arial"/>
                <a:cs typeface="Arial"/>
                <a:sym typeface="Arial"/>
              </a:rPr>
              <a:t>Feature Extraction Module</a:t>
            </a:r>
            <a:endParaRPr b="1" dirty="0">
              <a:latin typeface="Arial"/>
              <a:ea typeface="Arial"/>
              <a:cs typeface="Arial"/>
              <a:sym typeface="Arial"/>
            </a:endParaRPr>
          </a:p>
          <a:p>
            <a:pPr marL="457200" lvl="0" indent="-342900" rtl="0">
              <a:spcBef>
                <a:spcPts val="0"/>
              </a:spcBef>
              <a:spcAft>
                <a:spcPts val="0"/>
              </a:spcAft>
              <a:buSzPts val="1800"/>
              <a:buChar char="•"/>
            </a:pPr>
            <a:r>
              <a:rPr lang="en-GB" dirty="0">
                <a:latin typeface="Arial"/>
                <a:ea typeface="Arial"/>
                <a:cs typeface="Arial"/>
                <a:sym typeface="Arial"/>
              </a:rPr>
              <a:t>Identifies and extracts left and right eye regions from detected face.</a:t>
            </a:r>
          </a:p>
          <a:p>
            <a:pPr marL="457200" lvl="0" indent="-342900" rtl="0">
              <a:spcBef>
                <a:spcPts val="0"/>
              </a:spcBef>
              <a:spcAft>
                <a:spcPts val="0"/>
              </a:spcAft>
              <a:buSzPts val="1800"/>
              <a:buChar char="•"/>
            </a:pPr>
            <a:r>
              <a:rPr lang="en-GB" dirty="0">
                <a:latin typeface="Arial"/>
                <a:ea typeface="Arial"/>
                <a:cs typeface="Arial"/>
                <a:sym typeface="Arial"/>
              </a:rPr>
              <a:t>Standardizes eye regions to 24×24 pixels, converts to grayscale, normalizes pixel values</a:t>
            </a:r>
          </a:p>
          <a:p>
            <a:pPr marL="457200" lvl="0" indent="-342900" rtl="0">
              <a:spcBef>
                <a:spcPts val="0"/>
              </a:spcBef>
              <a:spcAft>
                <a:spcPts val="0"/>
              </a:spcAft>
              <a:buSzPts val="1800"/>
              <a:buChar char="•"/>
            </a:pPr>
            <a:r>
              <a:rPr lang="en-US" dirty="0">
                <a:latin typeface="Arial"/>
                <a:ea typeface="Arial"/>
                <a:cs typeface="Arial"/>
                <a:sym typeface="Arial"/>
              </a:rPr>
              <a:t>Technology: OpenCV for facial landmark detection, NumPy for processing.</a:t>
            </a:r>
            <a:endParaRPr lang="en-IN" dirty="0">
              <a:latin typeface="Arial"/>
              <a:ea typeface="Arial"/>
              <a:cs typeface="Arial"/>
              <a:sym typeface="Arial"/>
            </a:endParaRPr>
          </a:p>
          <a:p>
            <a:pPr marL="457200" lvl="0" indent="0" rtl="0">
              <a:spcBef>
                <a:spcPts val="0"/>
              </a:spcBef>
              <a:spcAft>
                <a:spcPts val="0"/>
              </a:spcAft>
              <a:buNone/>
            </a:pPr>
            <a:endParaRPr lang="en-IN" dirty="0">
              <a:latin typeface="Arial"/>
              <a:ea typeface="Arial"/>
              <a:cs typeface="Arial"/>
              <a:sym typeface="Arial"/>
            </a:endParaRPr>
          </a:p>
          <a:p>
            <a:pPr marL="457200" lvl="0" indent="0" rtl="0">
              <a:spcBef>
                <a:spcPts val="0"/>
              </a:spcBef>
              <a:spcAft>
                <a:spcPts val="0"/>
              </a:spcAft>
              <a:buNone/>
            </a:pPr>
            <a:r>
              <a:rPr lang="en-US" b="1" dirty="0">
                <a:latin typeface="Arial"/>
                <a:ea typeface="Arial"/>
                <a:cs typeface="Arial"/>
                <a:sym typeface="Arial"/>
              </a:rPr>
              <a:t>Drowsiness Detection Module</a:t>
            </a:r>
            <a:endParaRPr b="1" dirty="0">
              <a:latin typeface="Arial"/>
              <a:ea typeface="Arial"/>
              <a:cs typeface="Arial"/>
              <a:sym typeface="Arial"/>
            </a:endParaRPr>
          </a:p>
          <a:p>
            <a:pPr marL="457200" lvl="0" indent="-342900" rtl="0">
              <a:spcBef>
                <a:spcPts val="0"/>
              </a:spcBef>
              <a:spcAft>
                <a:spcPts val="0"/>
              </a:spcAft>
              <a:buSzPts val="1800"/>
              <a:buChar char="•"/>
            </a:pPr>
            <a:r>
              <a:rPr lang="en-GB" dirty="0">
                <a:latin typeface="Arial"/>
                <a:ea typeface="Arial"/>
                <a:cs typeface="Arial"/>
                <a:sym typeface="Arial"/>
              </a:rPr>
              <a:t>Detects driver drowsiness from extracted features.</a:t>
            </a:r>
          </a:p>
          <a:p>
            <a:pPr marL="457200" lvl="0" indent="-342900" rtl="0">
              <a:spcBef>
                <a:spcPts val="0"/>
              </a:spcBef>
              <a:spcAft>
                <a:spcPts val="0"/>
              </a:spcAft>
              <a:buSzPts val="1800"/>
              <a:buChar char="•"/>
            </a:pPr>
            <a:r>
              <a:rPr lang="en-GB" dirty="0">
                <a:latin typeface="Arial"/>
                <a:ea typeface="Arial"/>
                <a:cs typeface="Arial"/>
                <a:sym typeface="Arial"/>
              </a:rPr>
              <a:t>Technology: Convolutional Neural Networks (CNNs) built and run with TensorFlow/Kera, trained on 15 epochs, batch size 32.</a:t>
            </a:r>
          </a:p>
          <a:p>
            <a:pPr marL="457200" lvl="0" indent="0" rtl="0">
              <a:spcBef>
                <a:spcPts val="0"/>
              </a:spcBef>
              <a:spcAft>
                <a:spcPts val="0"/>
              </a:spcAft>
              <a:buNone/>
            </a:pPr>
            <a:endParaRPr lang="en-IN" dirty="0">
              <a:latin typeface="Arial"/>
              <a:ea typeface="Arial"/>
              <a:cs typeface="Arial"/>
              <a:sym typeface="Arial"/>
            </a:endParaRPr>
          </a:p>
          <a:p>
            <a:pPr marL="457200" lvl="0" indent="0" rtl="0">
              <a:spcBef>
                <a:spcPts val="0"/>
              </a:spcBef>
              <a:spcAft>
                <a:spcPts val="0"/>
              </a:spcAft>
              <a:buNone/>
            </a:pPr>
            <a:r>
              <a:rPr lang="en-US" b="1" dirty="0">
                <a:latin typeface="Arial"/>
                <a:ea typeface="Arial"/>
                <a:cs typeface="Arial"/>
                <a:sym typeface="Arial"/>
              </a:rPr>
              <a:t>Alert Generation Module</a:t>
            </a:r>
            <a:endParaRPr b="1" dirty="0">
              <a:latin typeface="Arial"/>
              <a:ea typeface="Arial"/>
              <a:cs typeface="Arial"/>
              <a:sym typeface="Arial"/>
            </a:endParaRPr>
          </a:p>
          <a:p>
            <a:pPr marL="457200" lvl="0" indent="-342900" rtl="0">
              <a:spcBef>
                <a:spcPts val="0"/>
              </a:spcBef>
              <a:spcAft>
                <a:spcPts val="0"/>
              </a:spcAft>
              <a:buSzPts val="1800"/>
              <a:buChar char="•"/>
            </a:pPr>
            <a:r>
              <a:rPr lang="en-US" dirty="0">
                <a:latin typeface="Arial"/>
                <a:ea typeface="Arial"/>
                <a:cs typeface="Arial"/>
                <a:sym typeface="Arial"/>
              </a:rPr>
              <a:t>Triggers an immediate audio or visual alert if drowsiness is detected.</a:t>
            </a:r>
            <a:endParaRPr dirty="0">
              <a:latin typeface="Arial"/>
              <a:ea typeface="Arial"/>
              <a:cs typeface="Arial"/>
              <a:sym typeface="Arial"/>
            </a:endParaRPr>
          </a:p>
          <a:p>
            <a:pPr marL="457200" lvl="0" indent="-342900" rtl="0">
              <a:spcBef>
                <a:spcPts val="0"/>
              </a:spcBef>
              <a:spcAft>
                <a:spcPts val="0"/>
              </a:spcAft>
              <a:buSzPts val="1800"/>
              <a:buChar char="•"/>
            </a:pPr>
            <a:r>
              <a:rPr lang="en-US" dirty="0">
                <a:latin typeface="Arial"/>
                <a:ea typeface="Arial"/>
                <a:cs typeface="Arial"/>
                <a:sym typeface="Arial"/>
              </a:rPr>
              <a:t>Technology: </a:t>
            </a:r>
            <a:r>
              <a:rPr lang="en-US" dirty="0" err="1">
                <a:latin typeface="Arial"/>
                <a:ea typeface="Arial"/>
                <a:cs typeface="Arial"/>
                <a:sym typeface="Arial"/>
              </a:rPr>
              <a:t>Pygame</a:t>
            </a:r>
            <a:r>
              <a:rPr lang="en-US" dirty="0">
                <a:latin typeface="Arial"/>
                <a:ea typeface="Arial"/>
                <a:cs typeface="Arial"/>
                <a:sym typeface="Arial"/>
              </a:rPr>
              <a:t> (for audio), custom GUI (for pop-up or LED alerts).</a:t>
            </a:r>
            <a:endParaRPr dirty="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4"/>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Tools, Technologies and Languages</a:t>
            </a:r>
            <a:endParaRPr b="0"/>
          </a:p>
        </p:txBody>
      </p:sp>
      <p:sp>
        <p:nvSpPr>
          <p:cNvPr id="128" name="Google Shape;128;p14"/>
          <p:cNvSpPr txBox="1"/>
          <p:nvPr/>
        </p:nvSpPr>
        <p:spPr>
          <a:xfrm>
            <a:off x="77125" y="804225"/>
            <a:ext cx="8328600" cy="5794800"/>
          </a:xfrm>
          <a:prstGeom prst="rect">
            <a:avLst/>
          </a:prstGeom>
          <a:noFill/>
          <a:ln>
            <a:noFill/>
          </a:ln>
        </p:spPr>
        <p:txBody>
          <a:bodyPr spcFirstLastPara="1" wrap="square" lIns="91425" tIns="45700" rIns="91425" bIns="45700" anchor="t" anchorCtr="0">
            <a:noAutofit/>
          </a:bodyPr>
          <a:lstStyle/>
          <a:p>
            <a:pPr marL="0" marR="0" lvl="0" indent="457200" algn="just" rtl="0">
              <a:lnSpc>
                <a:spcPct val="150000"/>
              </a:lnSpc>
              <a:spcBef>
                <a:spcPts val="0"/>
              </a:spcBef>
              <a:spcAft>
                <a:spcPts val="0"/>
              </a:spcAft>
              <a:buNone/>
            </a:pPr>
            <a:r>
              <a:rPr lang="en-US" sz="1800" b="1" dirty="0">
                <a:solidFill>
                  <a:schemeClr val="dk1"/>
                </a:solidFill>
              </a:rPr>
              <a:t>Software Resources: </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Font typeface="Arial"/>
              <a:buChar char="•"/>
            </a:pPr>
            <a:r>
              <a:rPr lang="en-US" sz="1800" b="1" dirty="0">
                <a:solidFill>
                  <a:schemeClr val="dk1"/>
                </a:solidFill>
              </a:rPr>
              <a:t>Programming Languages:</a:t>
            </a:r>
            <a:r>
              <a:rPr lang="en-US" sz="1800" dirty="0">
                <a:solidFill>
                  <a:schemeClr val="dk1"/>
                </a:solidFill>
              </a:rPr>
              <a:t> Python (3.10+) – Main language for system development and implementation.</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b="1" dirty="0">
                <a:solidFill>
                  <a:schemeClr val="dk1"/>
                </a:solidFill>
              </a:rPr>
              <a:t>ML Frameworks/ Environment</a:t>
            </a:r>
            <a:r>
              <a:rPr lang="en-US" sz="1800" dirty="0">
                <a:solidFill>
                  <a:schemeClr val="dk1"/>
                </a:solidFill>
              </a:rPr>
              <a:t>: TensorFlow / </a:t>
            </a:r>
            <a:r>
              <a:rPr lang="en-US" sz="1800" dirty="0" err="1">
                <a:solidFill>
                  <a:schemeClr val="dk1"/>
                </a:solidFill>
              </a:rPr>
              <a:t>Keras</a:t>
            </a:r>
            <a:r>
              <a:rPr lang="en-US" sz="1800" dirty="0">
                <a:solidFill>
                  <a:schemeClr val="dk1"/>
                </a:solidFill>
              </a:rPr>
              <a:t> - build and train models using CNN, Visual Studio Code/ Google Colab - environment.</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b="1" dirty="0">
                <a:solidFill>
                  <a:schemeClr val="dk1"/>
                </a:solidFill>
              </a:rPr>
              <a:t>Image Processing Libraries:</a:t>
            </a:r>
            <a:r>
              <a:rPr lang="en-US" sz="1800" dirty="0">
                <a:solidFill>
                  <a:schemeClr val="dk1"/>
                </a:solidFill>
              </a:rPr>
              <a:t> OpenCV – For video capture, frame manipulation, face/eye detection, and feature extraction.</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b="1" dirty="0">
                <a:solidFill>
                  <a:schemeClr val="dk1"/>
                </a:solidFill>
              </a:rPr>
              <a:t>Data Processing Libraries:</a:t>
            </a:r>
            <a:r>
              <a:rPr lang="en-US" sz="1800" dirty="0">
                <a:solidFill>
                  <a:schemeClr val="dk1"/>
                </a:solidFill>
              </a:rPr>
              <a:t> NumPy, Pandas – For array operations and data management.</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b="1" dirty="0">
                <a:solidFill>
                  <a:schemeClr val="dk1"/>
                </a:solidFill>
              </a:rPr>
              <a:t>Visualization Libraries:</a:t>
            </a:r>
            <a:r>
              <a:rPr lang="en-US" sz="1800" dirty="0">
                <a:solidFill>
                  <a:schemeClr val="dk1"/>
                </a:solidFill>
              </a:rPr>
              <a:t> Matplotlib – For visualizing results and plotting metrics.</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b="1" dirty="0">
                <a:solidFill>
                  <a:schemeClr val="dk1"/>
                </a:solidFill>
              </a:rPr>
              <a:t>ML Utilities:</a:t>
            </a:r>
            <a:r>
              <a:rPr lang="en-US" sz="1800" dirty="0">
                <a:solidFill>
                  <a:schemeClr val="dk1"/>
                </a:solidFill>
              </a:rPr>
              <a:t> Scikit-learn – For evaluation metrics, auxiliary ML models, and preprocessing.</a:t>
            </a:r>
            <a:endParaRPr sz="1800" dirty="0">
              <a:solidFill>
                <a:schemeClr val="dk1"/>
              </a:solidFill>
            </a:endParaRPr>
          </a:p>
          <a:p>
            <a:pPr marL="0" lvl="0" indent="0" algn="just" rtl="0">
              <a:lnSpc>
                <a:spcPct val="150000"/>
              </a:lnSpc>
              <a:spcBef>
                <a:spcPts val="0"/>
              </a:spcBef>
              <a:spcAft>
                <a:spcPts val="0"/>
              </a:spcAft>
              <a:buNone/>
            </a:pPr>
            <a:endParaRPr sz="1800"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g3845852b172_0_30"/>
          <p:cNvSpPr txBox="1">
            <a:spLocks noGrp="1"/>
          </p:cNvSpPr>
          <p:nvPr>
            <p:ph type="title"/>
          </p:nvPr>
        </p:nvSpPr>
        <p:spPr>
          <a:xfrm>
            <a:off x="40640" y="30480"/>
            <a:ext cx="8328900" cy="694200"/>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7" lvl="0" indent="0" algn="l" rtl="0">
              <a:spcBef>
                <a:spcPts val="0"/>
              </a:spcBef>
              <a:spcAft>
                <a:spcPts val="0"/>
              </a:spcAft>
              <a:buNone/>
            </a:pPr>
            <a:r>
              <a:rPr lang="en-US" sz="2400"/>
              <a:t>Tools, Technologies and Languages</a:t>
            </a:r>
            <a:endParaRPr b="0"/>
          </a:p>
        </p:txBody>
      </p:sp>
      <p:sp>
        <p:nvSpPr>
          <p:cNvPr id="134" name="Google Shape;134;g3845852b172_0_30"/>
          <p:cNvSpPr txBox="1"/>
          <p:nvPr/>
        </p:nvSpPr>
        <p:spPr>
          <a:xfrm>
            <a:off x="77125" y="804225"/>
            <a:ext cx="8328600" cy="5794800"/>
          </a:xfrm>
          <a:prstGeom prst="rect">
            <a:avLst/>
          </a:prstGeom>
          <a:noFill/>
          <a:ln>
            <a:noFill/>
          </a:ln>
        </p:spPr>
        <p:txBody>
          <a:bodyPr spcFirstLastPara="1" wrap="square" lIns="91425" tIns="45700" rIns="91425" bIns="45700" anchor="t" anchorCtr="0">
            <a:noAutofit/>
          </a:bodyPr>
          <a:lstStyle/>
          <a:p>
            <a:pPr marL="0" marR="0" lvl="0" indent="457200" algn="just" rtl="0">
              <a:lnSpc>
                <a:spcPct val="150000"/>
              </a:lnSpc>
              <a:spcBef>
                <a:spcPts val="0"/>
              </a:spcBef>
              <a:spcAft>
                <a:spcPts val="0"/>
              </a:spcAft>
              <a:buNone/>
            </a:pPr>
            <a:r>
              <a:rPr lang="en-US" sz="1800" b="1" dirty="0">
                <a:solidFill>
                  <a:schemeClr val="dk1"/>
                </a:solidFill>
              </a:rPr>
              <a:t>Hardware Resources: </a:t>
            </a:r>
            <a:endParaRPr sz="1800" dirty="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dirty="0">
                <a:solidFill>
                  <a:schemeClr val="dk1"/>
                </a:solidFill>
              </a:rPr>
              <a:t>Intel i5/i7 or equivalent processor</a:t>
            </a:r>
            <a:endParaRPr sz="1800" dirty="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dirty="0">
                <a:solidFill>
                  <a:schemeClr val="dk1"/>
                </a:solidFill>
              </a:rPr>
              <a:t>Minimum 8–16 GB RAM</a:t>
            </a:r>
            <a:endParaRPr sz="1800" dirty="0">
              <a:solidFill>
                <a:schemeClr val="dk1"/>
              </a:solidFill>
            </a:endParaRPr>
          </a:p>
          <a:p>
            <a:pPr marL="457200" lvl="0" indent="-342900" algn="just" rtl="0">
              <a:lnSpc>
                <a:spcPct val="150000"/>
              </a:lnSpc>
              <a:spcBef>
                <a:spcPts val="0"/>
              </a:spcBef>
              <a:spcAft>
                <a:spcPts val="0"/>
              </a:spcAft>
              <a:buClr>
                <a:schemeClr val="dk1"/>
              </a:buClr>
              <a:buSzPts val="1800"/>
              <a:buChar char="•"/>
            </a:pPr>
            <a:r>
              <a:rPr lang="en-US" sz="1800" dirty="0">
                <a:solidFill>
                  <a:schemeClr val="dk1"/>
                </a:solidFill>
              </a:rPr>
              <a:t>Compatible webcam (for live driver video capture)</a:t>
            </a:r>
            <a:endParaRPr sz="1800" dirty="0">
              <a:solidFill>
                <a:schemeClr val="dk1"/>
              </a:solidFill>
            </a:endParaRPr>
          </a:p>
          <a:p>
            <a:pPr marL="457200" lvl="0" indent="0" algn="just" rtl="0">
              <a:lnSpc>
                <a:spcPct val="150000"/>
              </a:lnSpc>
              <a:spcBef>
                <a:spcPts val="0"/>
              </a:spcBef>
              <a:spcAft>
                <a:spcPts val="0"/>
              </a:spcAft>
              <a:buNone/>
            </a:pPr>
            <a:endParaRPr sz="1800" dirty="0">
              <a:solidFill>
                <a:schemeClr val="dk1"/>
              </a:solidFill>
            </a:endParaRPr>
          </a:p>
          <a:p>
            <a:pPr marL="457200" lvl="0" indent="0" algn="just" rtl="0">
              <a:lnSpc>
                <a:spcPct val="150000"/>
              </a:lnSpc>
              <a:spcBef>
                <a:spcPts val="0"/>
              </a:spcBef>
              <a:spcAft>
                <a:spcPts val="0"/>
              </a:spcAft>
              <a:buNone/>
            </a:pPr>
            <a:r>
              <a:rPr lang="en-US" sz="1800" b="1" dirty="0">
                <a:solidFill>
                  <a:schemeClr val="dk1"/>
                </a:solidFill>
              </a:rPr>
              <a:t>Additional Resources:</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dirty="0">
                <a:solidFill>
                  <a:schemeClr val="dk1"/>
                </a:solidFill>
              </a:rPr>
              <a:t>Public image datasets – For training and evaluating models.</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dirty="0">
                <a:solidFill>
                  <a:schemeClr val="dk1"/>
                </a:solidFill>
              </a:rPr>
              <a:t>GitHub/Git – Version control and team collaboration.</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dirty="0">
                <a:solidFill>
                  <a:schemeClr val="dk1"/>
                </a:solidFill>
              </a:rPr>
              <a:t>Research papers &amp; benchmarks – Model reference, validation, and literature review.</a:t>
            </a:r>
            <a:endParaRPr sz="1800" dirty="0">
              <a:solidFill>
                <a:schemeClr val="dk1"/>
              </a:solidFill>
            </a:endParaRPr>
          </a:p>
          <a:p>
            <a:pPr marL="357187" marR="0" lvl="0" indent="-233362" algn="just" rtl="0">
              <a:lnSpc>
                <a:spcPct val="150000"/>
              </a:lnSpc>
              <a:spcBef>
                <a:spcPts val="0"/>
              </a:spcBef>
              <a:spcAft>
                <a:spcPts val="0"/>
              </a:spcAft>
              <a:buClr>
                <a:schemeClr val="dk1"/>
              </a:buClr>
              <a:buSzPts val="1800"/>
              <a:buChar char="•"/>
            </a:pPr>
            <a:r>
              <a:rPr lang="en-US" sz="1800" dirty="0">
                <a:solidFill>
                  <a:schemeClr val="dk1"/>
                </a:solidFill>
              </a:rPr>
              <a:t>Documentation/Presentation tools – Microsoft Office.</a:t>
            </a:r>
            <a:endParaRPr sz="1900" dirty="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6"/>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Dataset</a:t>
            </a:r>
            <a:endParaRPr/>
          </a:p>
        </p:txBody>
      </p:sp>
      <p:sp>
        <p:nvSpPr>
          <p:cNvPr id="140" name="Google Shape;140;p16"/>
          <p:cNvSpPr txBox="1"/>
          <p:nvPr/>
        </p:nvSpPr>
        <p:spPr>
          <a:xfrm>
            <a:off x="77125" y="2224776"/>
            <a:ext cx="8956800" cy="43743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630"/>
              </a:spcBef>
              <a:spcAft>
                <a:spcPts val="0"/>
              </a:spcAft>
              <a:buNone/>
            </a:pPr>
            <a:endParaRPr sz="1900">
              <a:solidFill>
                <a:schemeClr val="dk1"/>
              </a:solidFill>
            </a:endParaRPr>
          </a:p>
          <a:p>
            <a:pPr marL="0" marR="0" lvl="0" indent="0" algn="just" rtl="0">
              <a:lnSpc>
                <a:spcPct val="115000"/>
              </a:lnSpc>
              <a:spcBef>
                <a:spcPts val="630"/>
              </a:spcBef>
              <a:spcAft>
                <a:spcPts val="0"/>
              </a:spcAft>
              <a:buNone/>
            </a:pPr>
            <a:endParaRPr sz="1900">
              <a:solidFill>
                <a:schemeClr val="dk1"/>
              </a:solidFill>
            </a:endParaRPr>
          </a:p>
        </p:txBody>
      </p:sp>
      <p:pic>
        <p:nvPicPr>
          <p:cNvPr id="141" name="Google Shape;141;p16"/>
          <p:cNvPicPr preferRelativeResize="0"/>
          <p:nvPr/>
        </p:nvPicPr>
        <p:blipFill rotWithShape="1">
          <a:blip r:embed="rId3">
            <a:alphaModFix/>
          </a:blip>
          <a:srcRect t="32416" b="9311"/>
          <a:stretch/>
        </p:blipFill>
        <p:spPr>
          <a:xfrm>
            <a:off x="0" y="2884300"/>
            <a:ext cx="9144000" cy="3449424"/>
          </a:xfrm>
          <a:prstGeom prst="rect">
            <a:avLst/>
          </a:prstGeom>
          <a:noFill/>
          <a:ln>
            <a:noFill/>
          </a:ln>
        </p:spPr>
      </p:pic>
      <p:sp>
        <p:nvSpPr>
          <p:cNvPr id="142" name="Google Shape;142;p16"/>
          <p:cNvSpPr txBox="1"/>
          <p:nvPr/>
        </p:nvSpPr>
        <p:spPr>
          <a:xfrm>
            <a:off x="40825" y="714375"/>
            <a:ext cx="9001200" cy="2435400"/>
          </a:xfrm>
          <a:prstGeom prst="rect">
            <a:avLst/>
          </a:prstGeom>
          <a:noFill/>
          <a:ln>
            <a:noFill/>
          </a:ln>
        </p:spPr>
        <p:txBody>
          <a:bodyPr spcFirstLastPara="1" wrap="square" lIns="91425" tIns="91425" rIns="91425" bIns="91425" anchor="t" anchorCtr="0">
            <a:noAutofit/>
          </a:bodyPr>
          <a:lstStyle/>
          <a:p>
            <a:pPr marL="0" lvl="0" indent="457200" algn="just" rtl="0">
              <a:lnSpc>
                <a:spcPct val="115000"/>
              </a:lnSpc>
              <a:spcBef>
                <a:spcPts val="630"/>
              </a:spcBef>
              <a:spcAft>
                <a:spcPts val="0"/>
              </a:spcAft>
              <a:buNone/>
            </a:pPr>
            <a:r>
              <a:rPr lang="en-US" sz="1800" b="1">
                <a:solidFill>
                  <a:schemeClr val="dk1"/>
                </a:solidFill>
              </a:rPr>
              <a:t>Dataset Name: </a:t>
            </a:r>
            <a:r>
              <a:rPr lang="en-US" sz="1800">
                <a:solidFill>
                  <a:schemeClr val="dk1"/>
                </a:solidFill>
              </a:rPr>
              <a:t>MRL Eye Dataset </a:t>
            </a:r>
            <a:endParaRPr sz="1800">
              <a:solidFill>
                <a:schemeClr val="dk1"/>
              </a:solidFill>
            </a:endParaRPr>
          </a:p>
          <a:p>
            <a:pPr marL="457200" lvl="0" indent="-342900" algn="just" rtl="0">
              <a:lnSpc>
                <a:spcPct val="115000"/>
              </a:lnSpc>
              <a:spcBef>
                <a:spcPts val="630"/>
              </a:spcBef>
              <a:spcAft>
                <a:spcPts val="0"/>
              </a:spcAft>
              <a:buClr>
                <a:schemeClr val="dk1"/>
              </a:buClr>
              <a:buSzPts val="1800"/>
              <a:buChar char="●"/>
            </a:pPr>
            <a:r>
              <a:rPr lang="en-US" sz="1800" b="1">
                <a:solidFill>
                  <a:schemeClr val="dk1"/>
                </a:solidFill>
              </a:rPr>
              <a:t>Size: </a:t>
            </a:r>
            <a:r>
              <a:rPr lang="en-US" sz="1800">
                <a:solidFill>
                  <a:schemeClr val="dk1"/>
                </a:solidFill>
              </a:rPr>
              <a:t>84,898 images (Open and Closed eyes)</a:t>
            </a:r>
            <a:endParaRPr sz="1800" b="1">
              <a:solidFill>
                <a:schemeClr val="dk1"/>
              </a:solidFill>
            </a:endParaRPr>
          </a:p>
          <a:p>
            <a:pPr marL="457200" lvl="0" indent="-342900" algn="just" rtl="0">
              <a:lnSpc>
                <a:spcPct val="115000"/>
              </a:lnSpc>
              <a:spcBef>
                <a:spcPts val="0"/>
              </a:spcBef>
              <a:spcAft>
                <a:spcPts val="0"/>
              </a:spcAft>
              <a:buClr>
                <a:schemeClr val="dk1"/>
              </a:buClr>
              <a:buSzPts val="1800"/>
              <a:buChar char="●"/>
            </a:pPr>
            <a:r>
              <a:rPr lang="en-US" sz="1800" b="1">
                <a:solidFill>
                  <a:schemeClr val="dk1"/>
                </a:solidFill>
              </a:rPr>
              <a:t>Image Format: </a:t>
            </a:r>
            <a:r>
              <a:rPr lang="en-US" sz="1800">
                <a:solidFill>
                  <a:schemeClr val="dk1"/>
                </a:solidFill>
              </a:rPr>
              <a:t>PNG, resisized and preprocessed</a:t>
            </a:r>
            <a:endParaRPr sz="1800">
              <a:solidFill>
                <a:schemeClr val="dk1"/>
              </a:solidFill>
            </a:endParaRPr>
          </a:p>
          <a:p>
            <a:pPr marL="457200" lvl="0" indent="-342900" algn="just" rtl="0">
              <a:lnSpc>
                <a:spcPct val="115000"/>
              </a:lnSpc>
              <a:spcBef>
                <a:spcPts val="0"/>
              </a:spcBef>
              <a:spcAft>
                <a:spcPts val="0"/>
              </a:spcAft>
              <a:buClr>
                <a:schemeClr val="dk1"/>
              </a:buClr>
              <a:buSzPts val="1800"/>
              <a:buChar char="●"/>
            </a:pPr>
            <a:r>
              <a:rPr lang="en-US" sz="1800" b="1">
                <a:solidFill>
                  <a:schemeClr val="dk1"/>
                </a:solidFill>
              </a:rPr>
              <a:t>Usage: </a:t>
            </a:r>
            <a:r>
              <a:rPr lang="en-US" sz="1800">
                <a:solidFill>
                  <a:schemeClr val="dk1"/>
                </a:solidFill>
              </a:rPr>
              <a:t>Eye/blink detection, drowsiness classification</a:t>
            </a:r>
            <a:endParaRPr sz="1800">
              <a:solidFill>
                <a:schemeClr val="dk1"/>
              </a:solidFill>
            </a:endParaRPr>
          </a:p>
          <a:p>
            <a:pPr marL="457200" lvl="0" indent="-342900" algn="just" rtl="0">
              <a:lnSpc>
                <a:spcPct val="115000"/>
              </a:lnSpc>
              <a:spcBef>
                <a:spcPts val="0"/>
              </a:spcBef>
              <a:spcAft>
                <a:spcPts val="0"/>
              </a:spcAft>
              <a:buClr>
                <a:schemeClr val="dk1"/>
              </a:buClr>
              <a:buSzPts val="1800"/>
              <a:buChar char="●"/>
            </a:pPr>
            <a:r>
              <a:rPr lang="en-US" sz="1800" b="1">
                <a:solidFill>
                  <a:schemeClr val="dk1"/>
                </a:solidFill>
              </a:rPr>
              <a:t>Source</a:t>
            </a:r>
            <a:r>
              <a:rPr lang="en-US" sz="1800">
                <a:solidFill>
                  <a:schemeClr val="dk1"/>
                </a:solidFill>
              </a:rPr>
              <a:t>: Kaggle (Imad Eddine Djerarda)</a:t>
            </a:r>
            <a:endParaRPr sz="1800">
              <a:solidFill>
                <a:schemeClr val="dk1"/>
              </a:solidFill>
            </a:endParaRPr>
          </a:p>
          <a:p>
            <a:pPr marL="0" lvl="0" indent="0" algn="just" rtl="0">
              <a:lnSpc>
                <a:spcPct val="115000"/>
              </a:lnSpc>
              <a:spcBef>
                <a:spcPts val="630"/>
              </a:spcBef>
              <a:spcAft>
                <a:spcPts val="0"/>
              </a:spcAft>
              <a:buNone/>
            </a:pP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600FA-E015-693D-5750-83EC8B7D4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BEA1E-C26B-60E9-2BA3-86D15261312C}"/>
              </a:ext>
            </a:extLst>
          </p:cNvPr>
          <p:cNvSpPr>
            <a:spLocks noGrp="1"/>
          </p:cNvSpPr>
          <p:nvPr>
            <p:ph type="title"/>
          </p:nvPr>
        </p:nvSpPr>
        <p:spPr/>
        <p:txBody>
          <a:bodyPr/>
          <a:lstStyle/>
          <a:p>
            <a:r>
              <a:rPr lang="en-IN" dirty="0">
                <a:ea typeface="Palatino" pitchFamily="2" charset="77"/>
              </a:rPr>
              <a:t>Implementation</a:t>
            </a:r>
            <a:endParaRPr lang="en-US" dirty="0"/>
          </a:p>
        </p:txBody>
      </p:sp>
      <p:sp>
        <p:nvSpPr>
          <p:cNvPr id="4" name="Content Placeholder 2">
            <a:extLst>
              <a:ext uri="{FF2B5EF4-FFF2-40B4-BE49-F238E27FC236}">
                <a16:creationId xmlns:a16="http://schemas.microsoft.com/office/drawing/2014/main" id="{A6584451-44FA-A9E5-6C25-938EFC57D3F2}"/>
              </a:ext>
            </a:extLst>
          </p:cNvPr>
          <p:cNvSpPr txBox="1">
            <a:spLocks/>
          </p:cNvSpPr>
          <p:nvPr/>
        </p:nvSpPr>
        <p:spPr bwMode="auto">
          <a:xfrm>
            <a:off x="77118" y="3343274"/>
            <a:ext cx="8956714" cy="3255829"/>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GB" dirty="0">
                <a:ea typeface="Palatino" pitchFamily="2" charset="77"/>
              </a:rPr>
              <a:t>Initializes the </a:t>
            </a:r>
            <a:r>
              <a:rPr lang="en-GB" dirty="0" err="1">
                <a:ea typeface="Palatino" pitchFamily="2" charset="77"/>
              </a:rPr>
              <a:t>pygame.mixer</a:t>
            </a:r>
            <a:r>
              <a:rPr lang="en-GB" dirty="0">
                <a:ea typeface="Palatino" pitchFamily="2" charset="77"/>
              </a:rPr>
              <a:t> audio system and loads an alarm sound file alarm.wav so it can be played later.</a:t>
            </a:r>
          </a:p>
          <a:p>
            <a:pPr marL="357188" indent="-261938"/>
            <a:r>
              <a:rPr lang="en-GB" dirty="0"/>
              <a:t>Loads three Haar Cascade classifiers with OpenCV: one for the face, one for the left eye, and one for the right eye</a:t>
            </a:r>
          </a:p>
          <a:p>
            <a:pPr marL="357188" indent="-261938"/>
            <a:r>
              <a:rPr lang="en-GB" dirty="0"/>
              <a:t>Loads a pre‑trained CNN model from the HDF5 file models/cnnCat2.h5</a:t>
            </a:r>
            <a:endParaRPr lang="en-IN" sz="1800" dirty="0">
              <a:ea typeface="Palatino" pitchFamily="2" charset="77"/>
            </a:endParaRPr>
          </a:p>
        </p:txBody>
      </p:sp>
      <p:pic>
        <p:nvPicPr>
          <p:cNvPr id="7" name="Picture 6">
            <a:extLst>
              <a:ext uri="{FF2B5EF4-FFF2-40B4-BE49-F238E27FC236}">
                <a16:creationId xmlns:a16="http://schemas.microsoft.com/office/drawing/2014/main" id="{DD66A21B-A82E-40EA-7B42-C3BCAA462E68}"/>
              </a:ext>
            </a:extLst>
          </p:cNvPr>
          <p:cNvPicPr>
            <a:picLocks noChangeAspect="1"/>
          </p:cNvPicPr>
          <p:nvPr/>
        </p:nvPicPr>
        <p:blipFill>
          <a:blip r:embed="rId2"/>
          <a:stretch>
            <a:fillRect/>
          </a:stretch>
        </p:blipFill>
        <p:spPr>
          <a:xfrm>
            <a:off x="751721" y="942835"/>
            <a:ext cx="6906589" cy="2000529"/>
          </a:xfrm>
          <a:prstGeom prst="rect">
            <a:avLst/>
          </a:prstGeom>
        </p:spPr>
      </p:pic>
      <p:sp>
        <p:nvSpPr>
          <p:cNvPr id="10" name="TextBox 9">
            <a:extLst>
              <a:ext uri="{FF2B5EF4-FFF2-40B4-BE49-F238E27FC236}">
                <a16:creationId xmlns:a16="http://schemas.microsoft.com/office/drawing/2014/main" id="{9CA5B027-4CF1-3766-07A3-4403C547BA43}"/>
              </a:ext>
            </a:extLst>
          </p:cNvPr>
          <p:cNvSpPr txBox="1"/>
          <p:nvPr/>
        </p:nvSpPr>
        <p:spPr>
          <a:xfrm>
            <a:off x="2807837" y="2943364"/>
            <a:ext cx="2794355" cy="276999"/>
          </a:xfrm>
          <a:prstGeom prst="rect">
            <a:avLst/>
          </a:prstGeom>
          <a:noFill/>
        </p:spPr>
        <p:txBody>
          <a:bodyPr wrap="none" rtlCol="0">
            <a:spAutoFit/>
          </a:bodyPr>
          <a:lstStyle/>
          <a:p>
            <a:r>
              <a:rPr lang="en-GB" sz="1200" dirty="0"/>
              <a:t>Figure 4:  (Initializing the alarm sound)</a:t>
            </a:r>
            <a:endParaRPr lang="en-IN" sz="1200" dirty="0"/>
          </a:p>
        </p:txBody>
      </p:sp>
    </p:spTree>
    <p:extLst>
      <p:ext uri="{BB962C8B-B14F-4D97-AF65-F5344CB8AC3E}">
        <p14:creationId xmlns:p14="http://schemas.microsoft.com/office/powerpoint/2010/main" val="3671605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BF7F-A6BF-A1F5-384D-A10FCBBF3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C11D5-268C-D3D0-D201-9C0FEA496959}"/>
              </a:ext>
            </a:extLst>
          </p:cNvPr>
          <p:cNvSpPr>
            <a:spLocks noGrp="1"/>
          </p:cNvSpPr>
          <p:nvPr>
            <p:ph type="title"/>
          </p:nvPr>
        </p:nvSpPr>
        <p:spPr/>
        <p:txBody>
          <a:bodyPr/>
          <a:lstStyle/>
          <a:p>
            <a:r>
              <a:rPr lang="en-IN" dirty="0">
                <a:ea typeface="Palatino" pitchFamily="2" charset="77"/>
              </a:rPr>
              <a:t>Implementation</a:t>
            </a:r>
            <a:endParaRPr lang="en-US" dirty="0"/>
          </a:p>
        </p:txBody>
      </p:sp>
      <p:sp>
        <p:nvSpPr>
          <p:cNvPr id="4" name="Content Placeholder 2">
            <a:extLst>
              <a:ext uri="{FF2B5EF4-FFF2-40B4-BE49-F238E27FC236}">
                <a16:creationId xmlns:a16="http://schemas.microsoft.com/office/drawing/2014/main" id="{4A33CF67-C126-AD6B-F395-7B0733CD9886}"/>
              </a:ext>
            </a:extLst>
          </p:cNvPr>
          <p:cNvSpPr txBox="1">
            <a:spLocks/>
          </p:cNvSpPr>
          <p:nvPr/>
        </p:nvSpPr>
        <p:spPr bwMode="auto">
          <a:xfrm>
            <a:off x="77118" y="3343274"/>
            <a:ext cx="8956714" cy="3255829"/>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endParaRPr lang="en-IN" sz="1800" dirty="0">
              <a:ea typeface="Palatino" pitchFamily="2" charset="77"/>
            </a:endParaRPr>
          </a:p>
        </p:txBody>
      </p:sp>
      <p:pic>
        <p:nvPicPr>
          <p:cNvPr id="5" name="Picture 4">
            <a:extLst>
              <a:ext uri="{FF2B5EF4-FFF2-40B4-BE49-F238E27FC236}">
                <a16:creationId xmlns:a16="http://schemas.microsoft.com/office/drawing/2014/main" id="{2CBD5C4E-2F94-1686-FB80-79598BDBFC1E}"/>
              </a:ext>
            </a:extLst>
          </p:cNvPr>
          <p:cNvPicPr>
            <a:picLocks noChangeAspect="1"/>
          </p:cNvPicPr>
          <p:nvPr/>
        </p:nvPicPr>
        <p:blipFill>
          <a:blip r:embed="rId2"/>
          <a:stretch>
            <a:fillRect/>
          </a:stretch>
        </p:blipFill>
        <p:spPr>
          <a:xfrm>
            <a:off x="1685522" y="985579"/>
            <a:ext cx="5772956" cy="3705742"/>
          </a:xfrm>
          <a:prstGeom prst="rect">
            <a:avLst/>
          </a:prstGeom>
        </p:spPr>
      </p:pic>
      <p:sp>
        <p:nvSpPr>
          <p:cNvPr id="6" name="TextBox 5">
            <a:extLst>
              <a:ext uri="{FF2B5EF4-FFF2-40B4-BE49-F238E27FC236}">
                <a16:creationId xmlns:a16="http://schemas.microsoft.com/office/drawing/2014/main" id="{649D34B4-2829-69D8-AAD4-404B376E7481}"/>
              </a:ext>
            </a:extLst>
          </p:cNvPr>
          <p:cNvSpPr txBox="1"/>
          <p:nvPr/>
        </p:nvSpPr>
        <p:spPr>
          <a:xfrm>
            <a:off x="2659457" y="4691321"/>
            <a:ext cx="3825086" cy="307777"/>
          </a:xfrm>
          <a:prstGeom prst="rect">
            <a:avLst/>
          </a:prstGeom>
          <a:noFill/>
        </p:spPr>
        <p:txBody>
          <a:bodyPr wrap="none" rtlCol="0">
            <a:spAutoFit/>
          </a:bodyPr>
          <a:lstStyle/>
          <a:p>
            <a:r>
              <a:rPr lang="en-GB" dirty="0"/>
              <a:t>Figure 5 : </a:t>
            </a:r>
            <a:r>
              <a:rPr lang="en-GB" dirty="0" err="1"/>
              <a:t>Evaluatation</a:t>
            </a:r>
            <a:r>
              <a:rPr lang="en-GB" dirty="0"/>
              <a:t> on train and validation </a:t>
            </a:r>
            <a:endParaRPr lang="en-IN" dirty="0"/>
          </a:p>
        </p:txBody>
      </p:sp>
    </p:spTree>
    <p:extLst>
      <p:ext uri="{BB962C8B-B14F-4D97-AF65-F5344CB8AC3E}">
        <p14:creationId xmlns:p14="http://schemas.microsoft.com/office/powerpoint/2010/main" val="1427685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21D5-3E69-1A6A-0123-ED3A9B56D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4FDAF-CBFB-D6AE-7160-8429C02D7523}"/>
              </a:ext>
            </a:extLst>
          </p:cNvPr>
          <p:cNvSpPr>
            <a:spLocks noGrp="1"/>
          </p:cNvSpPr>
          <p:nvPr>
            <p:ph type="title"/>
          </p:nvPr>
        </p:nvSpPr>
        <p:spPr/>
        <p:txBody>
          <a:bodyPr/>
          <a:lstStyle/>
          <a:p>
            <a:r>
              <a:rPr lang="en-IN" dirty="0">
                <a:ea typeface="Palatino" pitchFamily="2" charset="77"/>
              </a:rPr>
              <a:t>Implementation</a:t>
            </a:r>
            <a:r>
              <a:rPr lang="en-IN" sz="2400" dirty="0">
                <a:ea typeface="Palatino" pitchFamily="2" charset="77"/>
              </a:rPr>
              <a:t>(</a:t>
            </a:r>
            <a:r>
              <a:rPr lang="en-IN" sz="2400" dirty="0" err="1">
                <a:ea typeface="Palatino" pitchFamily="2" charset="77"/>
              </a:rPr>
              <a:t>cont</a:t>
            </a:r>
            <a:r>
              <a:rPr lang="en-IN" sz="2400" dirty="0">
                <a:ea typeface="Palatino" pitchFamily="2" charset="77"/>
              </a:rPr>
              <a:t>…)</a:t>
            </a:r>
            <a:endParaRPr lang="en-US" dirty="0"/>
          </a:p>
        </p:txBody>
      </p:sp>
      <p:sp>
        <p:nvSpPr>
          <p:cNvPr id="4" name="Content Placeholder 2">
            <a:extLst>
              <a:ext uri="{FF2B5EF4-FFF2-40B4-BE49-F238E27FC236}">
                <a16:creationId xmlns:a16="http://schemas.microsoft.com/office/drawing/2014/main" id="{ECA801C9-546A-4637-E895-7436F30588D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endParaRPr lang="en-IN" sz="1800" dirty="0">
              <a:ea typeface="Palatino" pitchFamily="2" charset="77"/>
            </a:endParaRPr>
          </a:p>
        </p:txBody>
      </p:sp>
      <p:pic>
        <p:nvPicPr>
          <p:cNvPr id="5" name="Picture 4">
            <a:extLst>
              <a:ext uri="{FF2B5EF4-FFF2-40B4-BE49-F238E27FC236}">
                <a16:creationId xmlns:a16="http://schemas.microsoft.com/office/drawing/2014/main" id="{95F1436D-3796-0EF2-23BE-5AA8102CEBBF}"/>
              </a:ext>
            </a:extLst>
          </p:cNvPr>
          <p:cNvPicPr>
            <a:picLocks noChangeAspect="1"/>
          </p:cNvPicPr>
          <p:nvPr/>
        </p:nvPicPr>
        <p:blipFill>
          <a:blip r:embed="rId2"/>
          <a:stretch>
            <a:fillRect/>
          </a:stretch>
        </p:blipFill>
        <p:spPr>
          <a:xfrm>
            <a:off x="260969" y="1025142"/>
            <a:ext cx="7888093" cy="5194683"/>
          </a:xfrm>
          <a:prstGeom prst="rect">
            <a:avLst/>
          </a:prstGeom>
        </p:spPr>
      </p:pic>
      <p:sp>
        <p:nvSpPr>
          <p:cNvPr id="6" name="TextBox 5">
            <a:extLst>
              <a:ext uri="{FF2B5EF4-FFF2-40B4-BE49-F238E27FC236}">
                <a16:creationId xmlns:a16="http://schemas.microsoft.com/office/drawing/2014/main" id="{2B4981BA-9B0B-8647-1AE9-5EE1EB917B62}"/>
              </a:ext>
            </a:extLst>
          </p:cNvPr>
          <p:cNvSpPr txBox="1"/>
          <p:nvPr/>
        </p:nvSpPr>
        <p:spPr>
          <a:xfrm>
            <a:off x="2745320" y="6219825"/>
            <a:ext cx="2531462" cy="276999"/>
          </a:xfrm>
          <a:prstGeom prst="rect">
            <a:avLst/>
          </a:prstGeom>
          <a:noFill/>
        </p:spPr>
        <p:txBody>
          <a:bodyPr wrap="none" rtlCol="0">
            <a:spAutoFit/>
          </a:bodyPr>
          <a:lstStyle/>
          <a:p>
            <a:r>
              <a:rPr lang="en-GB" sz="1200" dirty="0"/>
              <a:t>Figure 6:  (Starting Video Capture)</a:t>
            </a:r>
            <a:endParaRPr lang="en-IN" sz="1200" dirty="0"/>
          </a:p>
        </p:txBody>
      </p:sp>
    </p:spTree>
    <p:extLst>
      <p:ext uri="{BB962C8B-B14F-4D97-AF65-F5344CB8AC3E}">
        <p14:creationId xmlns:p14="http://schemas.microsoft.com/office/powerpoint/2010/main" val="2400475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A109C-C90B-A1D3-5FD4-2BF75C955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08B3C-266B-9FDE-7F46-2AEB027EC4B6}"/>
              </a:ext>
            </a:extLst>
          </p:cNvPr>
          <p:cNvSpPr>
            <a:spLocks noGrp="1"/>
          </p:cNvSpPr>
          <p:nvPr>
            <p:ph type="title"/>
          </p:nvPr>
        </p:nvSpPr>
        <p:spPr/>
        <p:txBody>
          <a:bodyPr/>
          <a:lstStyle/>
          <a:p>
            <a:r>
              <a:rPr lang="en-IN" sz="2400" dirty="0">
                <a:ea typeface="Palatino" pitchFamily="2" charset="77"/>
              </a:rPr>
              <a:t>Experimental Results and Evaluation (</a:t>
            </a:r>
            <a:r>
              <a:rPr lang="en-IN" sz="2400" dirty="0" err="1">
                <a:ea typeface="Palatino" pitchFamily="2" charset="77"/>
              </a:rPr>
              <a:t>cont</a:t>
            </a:r>
            <a:r>
              <a:rPr lang="en-IN" sz="2400" dirty="0">
                <a:ea typeface="Palatino" pitchFamily="2" charset="77"/>
              </a:rPr>
              <a:t>…)</a:t>
            </a:r>
            <a:endParaRPr lang="en-US" dirty="0"/>
          </a:p>
        </p:txBody>
      </p:sp>
      <p:sp>
        <p:nvSpPr>
          <p:cNvPr id="4" name="Content Placeholder 2">
            <a:extLst>
              <a:ext uri="{FF2B5EF4-FFF2-40B4-BE49-F238E27FC236}">
                <a16:creationId xmlns:a16="http://schemas.microsoft.com/office/drawing/2014/main" id="{AC50E31B-1863-16C2-6378-2E27DF4E5AB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endParaRPr lang="en-IN" sz="1800" dirty="0">
              <a:ea typeface="Palatino" pitchFamily="2" charset="77"/>
            </a:endParaRPr>
          </a:p>
        </p:txBody>
      </p:sp>
      <p:pic>
        <p:nvPicPr>
          <p:cNvPr id="5" name="Picture 4">
            <a:extLst>
              <a:ext uri="{FF2B5EF4-FFF2-40B4-BE49-F238E27FC236}">
                <a16:creationId xmlns:a16="http://schemas.microsoft.com/office/drawing/2014/main" id="{A21391CE-A7AB-B47F-2D7D-D89617FAE3C3}"/>
              </a:ext>
            </a:extLst>
          </p:cNvPr>
          <p:cNvPicPr>
            <a:picLocks noChangeAspect="1"/>
          </p:cNvPicPr>
          <p:nvPr/>
        </p:nvPicPr>
        <p:blipFill>
          <a:blip r:embed="rId2"/>
          <a:stretch>
            <a:fillRect/>
          </a:stretch>
        </p:blipFill>
        <p:spPr>
          <a:xfrm>
            <a:off x="318816" y="1389535"/>
            <a:ext cx="3886200" cy="3088330"/>
          </a:xfrm>
          <a:prstGeom prst="rect">
            <a:avLst/>
          </a:prstGeom>
        </p:spPr>
      </p:pic>
      <p:pic>
        <p:nvPicPr>
          <p:cNvPr id="7" name="Picture 6">
            <a:extLst>
              <a:ext uri="{FF2B5EF4-FFF2-40B4-BE49-F238E27FC236}">
                <a16:creationId xmlns:a16="http://schemas.microsoft.com/office/drawing/2014/main" id="{AB3C613B-0189-643A-0D72-1947B57DA745}"/>
              </a:ext>
            </a:extLst>
          </p:cNvPr>
          <p:cNvPicPr>
            <a:picLocks noChangeAspect="1"/>
          </p:cNvPicPr>
          <p:nvPr/>
        </p:nvPicPr>
        <p:blipFill>
          <a:blip r:embed="rId3"/>
          <a:stretch>
            <a:fillRect/>
          </a:stretch>
        </p:blipFill>
        <p:spPr>
          <a:xfrm>
            <a:off x="4938986" y="1389535"/>
            <a:ext cx="3867150" cy="3093116"/>
          </a:xfrm>
          <a:prstGeom prst="rect">
            <a:avLst/>
          </a:prstGeom>
        </p:spPr>
      </p:pic>
      <p:sp>
        <p:nvSpPr>
          <p:cNvPr id="8" name="TextBox 7">
            <a:extLst>
              <a:ext uri="{FF2B5EF4-FFF2-40B4-BE49-F238E27FC236}">
                <a16:creationId xmlns:a16="http://schemas.microsoft.com/office/drawing/2014/main" id="{5E0AF4BB-726C-3061-2CC5-E492313A81B9}"/>
              </a:ext>
            </a:extLst>
          </p:cNvPr>
          <p:cNvSpPr txBox="1"/>
          <p:nvPr/>
        </p:nvSpPr>
        <p:spPr>
          <a:xfrm>
            <a:off x="1125226" y="4477865"/>
            <a:ext cx="2273379" cy="307777"/>
          </a:xfrm>
          <a:prstGeom prst="rect">
            <a:avLst/>
          </a:prstGeom>
          <a:noFill/>
        </p:spPr>
        <p:txBody>
          <a:bodyPr wrap="none" rtlCol="0">
            <a:spAutoFit/>
          </a:bodyPr>
          <a:lstStyle/>
          <a:p>
            <a:r>
              <a:rPr lang="en-GB" dirty="0"/>
              <a:t>Figure 7 : Open Eyes Test</a:t>
            </a:r>
            <a:endParaRPr lang="en-IN" dirty="0"/>
          </a:p>
        </p:txBody>
      </p:sp>
      <p:sp>
        <p:nvSpPr>
          <p:cNvPr id="9" name="TextBox 8">
            <a:extLst>
              <a:ext uri="{FF2B5EF4-FFF2-40B4-BE49-F238E27FC236}">
                <a16:creationId xmlns:a16="http://schemas.microsoft.com/office/drawing/2014/main" id="{F4530B2D-3DF5-2F12-7A63-829835BE71E6}"/>
              </a:ext>
            </a:extLst>
          </p:cNvPr>
          <p:cNvSpPr txBox="1"/>
          <p:nvPr/>
        </p:nvSpPr>
        <p:spPr>
          <a:xfrm>
            <a:off x="5735871" y="4477865"/>
            <a:ext cx="2393604" cy="307777"/>
          </a:xfrm>
          <a:prstGeom prst="rect">
            <a:avLst/>
          </a:prstGeom>
          <a:noFill/>
        </p:spPr>
        <p:txBody>
          <a:bodyPr wrap="none" rtlCol="0">
            <a:spAutoFit/>
          </a:bodyPr>
          <a:lstStyle/>
          <a:p>
            <a:r>
              <a:rPr lang="en-GB" dirty="0"/>
              <a:t>Figure 8 : Closed Eyes Test</a:t>
            </a:r>
            <a:endParaRPr lang="en-IN" dirty="0"/>
          </a:p>
        </p:txBody>
      </p:sp>
    </p:spTree>
    <p:extLst>
      <p:ext uri="{BB962C8B-B14F-4D97-AF65-F5344CB8AC3E}">
        <p14:creationId xmlns:p14="http://schemas.microsoft.com/office/powerpoint/2010/main" val="691517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05F29-2157-5E07-F393-D785E8BADF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F5404-43CF-7183-2C7E-1F004FD63BA9}"/>
              </a:ext>
            </a:extLst>
          </p:cNvPr>
          <p:cNvSpPr>
            <a:spLocks noGrp="1"/>
          </p:cNvSpPr>
          <p:nvPr>
            <p:ph type="title"/>
          </p:nvPr>
        </p:nvSpPr>
        <p:spPr/>
        <p:txBody>
          <a:bodyPr/>
          <a:lstStyle/>
          <a:p>
            <a:r>
              <a:rPr lang="en-IN" sz="2400" dirty="0">
                <a:ea typeface="Palatino" pitchFamily="2" charset="77"/>
              </a:rPr>
              <a:t>Experimental Results and Evaluation (</a:t>
            </a:r>
            <a:r>
              <a:rPr lang="en-IN" sz="2400" dirty="0" err="1">
                <a:ea typeface="Palatino" pitchFamily="2" charset="77"/>
              </a:rPr>
              <a:t>cont</a:t>
            </a:r>
            <a:r>
              <a:rPr lang="en-IN" sz="2400" dirty="0">
                <a:ea typeface="Palatino" pitchFamily="2" charset="77"/>
              </a:rPr>
              <a:t>…)</a:t>
            </a:r>
            <a:endParaRPr lang="en-US" dirty="0"/>
          </a:p>
        </p:txBody>
      </p:sp>
      <p:sp>
        <p:nvSpPr>
          <p:cNvPr id="4" name="Content Placeholder 2">
            <a:extLst>
              <a:ext uri="{FF2B5EF4-FFF2-40B4-BE49-F238E27FC236}">
                <a16:creationId xmlns:a16="http://schemas.microsoft.com/office/drawing/2014/main" id="{CEA2BF90-C866-A0EC-A492-B818584E148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endParaRPr lang="en-IN" sz="1800" dirty="0">
              <a:ea typeface="Palatino" pitchFamily="2" charset="77"/>
            </a:endParaRPr>
          </a:p>
        </p:txBody>
      </p:sp>
      <p:pic>
        <p:nvPicPr>
          <p:cNvPr id="6" name="Picture 5">
            <a:extLst>
              <a:ext uri="{FF2B5EF4-FFF2-40B4-BE49-F238E27FC236}">
                <a16:creationId xmlns:a16="http://schemas.microsoft.com/office/drawing/2014/main" id="{5218519C-7FB6-0215-BE36-71BDC4188D50}"/>
              </a:ext>
            </a:extLst>
          </p:cNvPr>
          <p:cNvPicPr>
            <a:picLocks noChangeAspect="1"/>
          </p:cNvPicPr>
          <p:nvPr/>
        </p:nvPicPr>
        <p:blipFill>
          <a:blip r:embed="rId2"/>
          <a:stretch>
            <a:fillRect/>
          </a:stretch>
        </p:blipFill>
        <p:spPr>
          <a:xfrm>
            <a:off x="0" y="1600200"/>
            <a:ext cx="9144000" cy="3657600"/>
          </a:xfrm>
          <a:prstGeom prst="rect">
            <a:avLst/>
          </a:prstGeom>
        </p:spPr>
      </p:pic>
      <p:sp>
        <p:nvSpPr>
          <p:cNvPr id="10" name="TextBox 9">
            <a:extLst>
              <a:ext uri="{FF2B5EF4-FFF2-40B4-BE49-F238E27FC236}">
                <a16:creationId xmlns:a16="http://schemas.microsoft.com/office/drawing/2014/main" id="{7CFCA91D-F577-3CA8-33C6-7947FDBA5A55}"/>
              </a:ext>
            </a:extLst>
          </p:cNvPr>
          <p:cNvSpPr txBox="1"/>
          <p:nvPr/>
        </p:nvSpPr>
        <p:spPr>
          <a:xfrm>
            <a:off x="3418785" y="5257800"/>
            <a:ext cx="2989921" cy="307777"/>
          </a:xfrm>
          <a:prstGeom prst="rect">
            <a:avLst/>
          </a:prstGeom>
          <a:noFill/>
        </p:spPr>
        <p:txBody>
          <a:bodyPr wrap="none" rtlCol="0">
            <a:spAutoFit/>
          </a:bodyPr>
          <a:lstStyle/>
          <a:p>
            <a:r>
              <a:rPr lang="en-GB" dirty="0"/>
              <a:t>Figure 9 : Accuracy and loss Graph</a:t>
            </a:r>
            <a:endParaRPr lang="en-IN" dirty="0"/>
          </a:p>
        </p:txBody>
      </p:sp>
    </p:spTree>
    <p:extLst>
      <p:ext uri="{BB962C8B-B14F-4D97-AF65-F5344CB8AC3E}">
        <p14:creationId xmlns:p14="http://schemas.microsoft.com/office/powerpoint/2010/main" val="3027256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2C902-FFCF-57F0-6CA2-5CF88BF23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AE197-E8D0-BB05-54CC-E1A2D703441F}"/>
              </a:ext>
            </a:extLst>
          </p:cNvPr>
          <p:cNvSpPr>
            <a:spLocks noGrp="1"/>
          </p:cNvSpPr>
          <p:nvPr>
            <p:ph type="title"/>
          </p:nvPr>
        </p:nvSpPr>
        <p:spPr/>
        <p:txBody>
          <a:bodyPr/>
          <a:lstStyle/>
          <a:p>
            <a:r>
              <a:rPr lang="en-IN" sz="2400" dirty="0">
                <a:ea typeface="Palatino" pitchFamily="2" charset="77"/>
              </a:rPr>
              <a:t>Experimental Results and Evaluation (</a:t>
            </a:r>
            <a:r>
              <a:rPr lang="en-IN" sz="2400" dirty="0" err="1">
                <a:ea typeface="Palatino" pitchFamily="2" charset="77"/>
              </a:rPr>
              <a:t>cont</a:t>
            </a:r>
            <a:r>
              <a:rPr lang="en-IN" sz="2400" dirty="0">
                <a:ea typeface="Palatino" pitchFamily="2" charset="77"/>
              </a:rPr>
              <a:t>…)</a:t>
            </a:r>
            <a:endParaRPr lang="en-US" dirty="0"/>
          </a:p>
        </p:txBody>
      </p:sp>
      <p:sp>
        <p:nvSpPr>
          <p:cNvPr id="4" name="Content Placeholder 2">
            <a:extLst>
              <a:ext uri="{FF2B5EF4-FFF2-40B4-BE49-F238E27FC236}">
                <a16:creationId xmlns:a16="http://schemas.microsoft.com/office/drawing/2014/main" id="{38B1E0E4-053E-905C-34DC-B1931DBE00E0}"/>
              </a:ext>
            </a:extLst>
          </p:cNvPr>
          <p:cNvSpPr txBox="1">
            <a:spLocks/>
          </p:cNvSpPr>
          <p:nvPr/>
        </p:nvSpPr>
        <p:spPr bwMode="auto">
          <a:xfrm>
            <a:off x="40640" y="724544"/>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endParaRPr lang="en-IN" sz="1800" dirty="0">
              <a:ea typeface="Palatino" pitchFamily="2" charset="77"/>
            </a:endParaRPr>
          </a:p>
        </p:txBody>
      </p:sp>
      <p:pic>
        <p:nvPicPr>
          <p:cNvPr id="6" name="Picture 5">
            <a:extLst>
              <a:ext uri="{FF2B5EF4-FFF2-40B4-BE49-F238E27FC236}">
                <a16:creationId xmlns:a16="http://schemas.microsoft.com/office/drawing/2014/main" id="{432C5DF5-CE6A-5A6A-3B7C-0A1042A801C9}"/>
              </a:ext>
            </a:extLst>
          </p:cNvPr>
          <p:cNvPicPr>
            <a:picLocks noChangeAspect="1"/>
          </p:cNvPicPr>
          <p:nvPr/>
        </p:nvPicPr>
        <p:blipFill>
          <a:blip r:embed="rId2"/>
          <a:stretch>
            <a:fillRect/>
          </a:stretch>
        </p:blipFill>
        <p:spPr>
          <a:xfrm>
            <a:off x="2371197" y="1237944"/>
            <a:ext cx="3667637" cy="2191056"/>
          </a:xfrm>
          <a:prstGeom prst="rect">
            <a:avLst/>
          </a:prstGeom>
        </p:spPr>
      </p:pic>
      <p:sp>
        <p:nvSpPr>
          <p:cNvPr id="10" name="TextBox 9">
            <a:extLst>
              <a:ext uri="{FF2B5EF4-FFF2-40B4-BE49-F238E27FC236}">
                <a16:creationId xmlns:a16="http://schemas.microsoft.com/office/drawing/2014/main" id="{3A5C45B0-7CE2-719C-9A57-239C3503AD34}"/>
              </a:ext>
            </a:extLst>
          </p:cNvPr>
          <p:cNvSpPr txBox="1"/>
          <p:nvPr/>
        </p:nvSpPr>
        <p:spPr>
          <a:xfrm>
            <a:off x="3372094" y="3449042"/>
            <a:ext cx="1665841" cy="307777"/>
          </a:xfrm>
          <a:prstGeom prst="rect">
            <a:avLst/>
          </a:prstGeom>
          <a:noFill/>
        </p:spPr>
        <p:txBody>
          <a:bodyPr wrap="none" rtlCol="0">
            <a:spAutoFit/>
          </a:bodyPr>
          <a:lstStyle/>
          <a:p>
            <a:r>
              <a:rPr lang="en-GB" dirty="0"/>
              <a:t>Figure 10 : Metrics</a:t>
            </a:r>
            <a:endParaRPr lang="en-IN" dirty="0"/>
          </a:p>
        </p:txBody>
      </p:sp>
    </p:spTree>
    <p:extLst>
      <p:ext uri="{BB962C8B-B14F-4D97-AF65-F5344CB8AC3E}">
        <p14:creationId xmlns:p14="http://schemas.microsoft.com/office/powerpoint/2010/main" val="36689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Key Learnings</a:t>
            </a:r>
            <a:endParaRPr/>
          </a:p>
        </p:txBody>
      </p:sp>
      <p:sp>
        <p:nvSpPr>
          <p:cNvPr id="148" name="Google Shape;148;p19"/>
          <p:cNvSpPr txBox="1"/>
          <p:nvPr/>
        </p:nvSpPr>
        <p:spPr>
          <a:xfrm>
            <a:off x="77118" y="804231"/>
            <a:ext cx="8956800" cy="5794800"/>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0"/>
              </a:spcBef>
              <a:spcAft>
                <a:spcPts val="0"/>
              </a:spcAft>
              <a:buNone/>
            </a:pPr>
            <a:r>
              <a:rPr lang="en-US" sz="1900" b="1">
                <a:solidFill>
                  <a:schemeClr val="dk1"/>
                </a:solidFill>
              </a:rPr>
              <a:t>Technical Concepts Learned: </a:t>
            </a:r>
            <a:endParaRPr sz="1900" b="1">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Understanding drowsiness detection as a critical research area for road safety</a:t>
            </a:r>
            <a:endParaRPr sz="1800">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Identifying criteria for dataset selection in computer vision tasks</a:t>
            </a:r>
            <a:endParaRPr sz="1800">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Recognizing challenges like lighting variability, occlusions, and data biases in eye image datasets</a:t>
            </a:r>
            <a:endParaRPr sz="1800">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Learning to process and use infrared eye datasets for eye state classification</a:t>
            </a:r>
            <a:endParaRPr sz="1800">
              <a:solidFill>
                <a:schemeClr val="dk1"/>
              </a:solidFill>
            </a:endParaRPr>
          </a:p>
          <a:p>
            <a:pPr marL="457200" lvl="0" indent="0" algn="just" rtl="0">
              <a:lnSpc>
                <a:spcPct val="115000"/>
              </a:lnSpc>
              <a:spcBef>
                <a:spcPts val="0"/>
              </a:spcBef>
              <a:spcAft>
                <a:spcPts val="0"/>
              </a:spcAft>
              <a:buNone/>
            </a:pPr>
            <a:endParaRPr sz="1800">
              <a:solidFill>
                <a:schemeClr val="dk1"/>
              </a:solidFill>
            </a:endParaRPr>
          </a:p>
          <a:p>
            <a:pPr marL="457200" lvl="0" indent="0" algn="just" rtl="0">
              <a:lnSpc>
                <a:spcPct val="150000"/>
              </a:lnSpc>
              <a:spcBef>
                <a:spcPts val="0"/>
              </a:spcBef>
              <a:spcAft>
                <a:spcPts val="0"/>
              </a:spcAft>
              <a:buNone/>
            </a:pPr>
            <a:r>
              <a:rPr lang="en-US" sz="1800" b="1">
                <a:solidFill>
                  <a:schemeClr val="dk1"/>
                </a:solidFill>
              </a:rPr>
              <a:t>Skills &amp; Methodologies:</a:t>
            </a:r>
            <a:endParaRPr sz="1800" b="1">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Enhancing literature review and collaborative research analysis skills</a:t>
            </a:r>
            <a:endParaRPr sz="1800">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Gaining knowledge of benchmarking strategies for model evaluation</a:t>
            </a:r>
            <a:endParaRPr sz="1800">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Practicing dataset exploration and suitability analysis for AI training</a:t>
            </a:r>
            <a:endParaRPr sz="1800">
              <a:solidFill>
                <a:schemeClr val="dk1"/>
              </a:solidFill>
            </a:endParaRPr>
          </a:p>
          <a:p>
            <a:pPr marL="457200" lvl="0" indent="-371475" algn="just" rtl="0">
              <a:lnSpc>
                <a:spcPct val="115000"/>
              </a:lnSpc>
              <a:spcBef>
                <a:spcPts val="0"/>
              </a:spcBef>
              <a:spcAft>
                <a:spcPts val="0"/>
              </a:spcAft>
              <a:buClr>
                <a:schemeClr val="dk1"/>
              </a:buClr>
              <a:buSzPts val="2250"/>
              <a:buChar char="•"/>
            </a:pPr>
            <a:r>
              <a:rPr lang="en-US" sz="1800">
                <a:solidFill>
                  <a:schemeClr val="dk1"/>
                </a:solidFill>
              </a:rPr>
              <a:t>Preparing for application of CNN and ML models to drowsiness detection</a:t>
            </a:r>
            <a:endParaRPr sz="1800" b="1">
              <a:solidFill>
                <a:schemeClr val="dk1"/>
              </a:solidFill>
            </a:endParaRPr>
          </a:p>
          <a:p>
            <a:pPr marL="0" lvl="0" indent="0" algn="just" rtl="0">
              <a:lnSpc>
                <a:spcPct val="150000"/>
              </a:lnSpc>
              <a:spcBef>
                <a:spcPts val="0"/>
              </a:spcBef>
              <a:spcAft>
                <a:spcPts val="0"/>
              </a:spcAft>
              <a:buNone/>
            </a:pPr>
            <a:endParaRPr sz="1800" b="1">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a:t>Work Contribution and Attendance</a:t>
            </a:r>
            <a:endParaRPr b="0"/>
          </a:p>
        </p:txBody>
      </p:sp>
      <p:sp>
        <p:nvSpPr>
          <p:cNvPr id="173" name="Google Shape;173;p22"/>
          <p:cNvSpPr txBox="1"/>
          <p:nvPr/>
        </p:nvSpPr>
        <p:spPr>
          <a:xfrm>
            <a:off x="77118" y="804231"/>
            <a:ext cx="8956714" cy="5172419"/>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174" name="Google Shape;174;p22"/>
          <p:cNvGraphicFramePr/>
          <p:nvPr>
            <p:extLst>
              <p:ext uri="{D42A27DB-BD31-4B8C-83A1-F6EECF244321}">
                <p14:modId xmlns:p14="http://schemas.microsoft.com/office/powerpoint/2010/main" val="2299368493"/>
              </p:ext>
            </p:extLst>
          </p:nvPr>
        </p:nvGraphicFramePr>
        <p:xfrm>
          <a:off x="77118" y="797824"/>
          <a:ext cx="8532375" cy="5831605"/>
        </p:xfrm>
        <a:graphic>
          <a:graphicData uri="http://schemas.openxmlformats.org/drawingml/2006/table">
            <a:tbl>
              <a:tblPr firstRow="1" bandRow="1">
                <a:noFill/>
                <a:tableStyleId>{65DD5067-7E9F-42BD-843D-25329A0267B5}</a:tableStyleId>
              </a:tblPr>
              <a:tblGrid>
                <a:gridCol w="801275">
                  <a:extLst>
                    <a:ext uri="{9D8B030D-6E8A-4147-A177-3AD203B41FA5}">
                      <a16:colId xmlns:a16="http://schemas.microsoft.com/office/drawing/2014/main" val="20000"/>
                    </a:ext>
                  </a:extLst>
                </a:gridCol>
                <a:gridCol w="1077800">
                  <a:extLst>
                    <a:ext uri="{9D8B030D-6E8A-4147-A177-3AD203B41FA5}">
                      <a16:colId xmlns:a16="http://schemas.microsoft.com/office/drawing/2014/main" val="20001"/>
                    </a:ext>
                  </a:extLst>
                </a:gridCol>
                <a:gridCol w="4638175">
                  <a:extLst>
                    <a:ext uri="{9D8B030D-6E8A-4147-A177-3AD203B41FA5}">
                      <a16:colId xmlns:a16="http://schemas.microsoft.com/office/drawing/2014/main" val="20002"/>
                    </a:ext>
                  </a:extLst>
                </a:gridCol>
                <a:gridCol w="971125">
                  <a:extLst>
                    <a:ext uri="{9D8B030D-6E8A-4147-A177-3AD203B41FA5}">
                      <a16:colId xmlns:a16="http://schemas.microsoft.com/office/drawing/2014/main" val="20003"/>
                    </a:ext>
                  </a:extLst>
                </a:gridCol>
                <a:gridCol w="1044000">
                  <a:extLst>
                    <a:ext uri="{9D8B030D-6E8A-4147-A177-3AD203B41FA5}">
                      <a16:colId xmlns:a16="http://schemas.microsoft.com/office/drawing/2014/main" val="20004"/>
                    </a:ext>
                  </a:extLst>
                </a:gridCol>
              </a:tblGrid>
              <a:tr h="421326">
                <a:tc gridSpan="5">
                  <a:txBody>
                    <a:bodyPr/>
                    <a:lstStyle/>
                    <a:p>
                      <a:pPr marL="0" marR="0" lvl="0" indent="0" algn="l" rtl="0">
                        <a:spcBef>
                          <a:spcPts val="0"/>
                        </a:spcBef>
                        <a:spcAft>
                          <a:spcPts val="0"/>
                        </a:spcAft>
                        <a:buNone/>
                      </a:pPr>
                      <a:r>
                        <a:rPr lang="en-US" sz="1300" b="1" i="0" dirty="0">
                          <a:solidFill>
                            <a:schemeClr val="dk1"/>
                          </a:solidFill>
                          <a:latin typeface="Helvetica Neue"/>
                          <a:ea typeface="Helvetica Neue"/>
                          <a:cs typeface="Helvetica Neue"/>
                          <a:sym typeface="Helvetica Neue"/>
                        </a:rPr>
                        <a:t>GitHub Repository URL:</a:t>
                      </a:r>
                      <a:r>
                        <a:rPr lang="en-US" sz="1300" b="0" i="0" dirty="0">
                          <a:solidFill>
                            <a:schemeClr val="dk1"/>
                          </a:solidFill>
                          <a:latin typeface="Helvetica Neue"/>
                          <a:ea typeface="Helvetica Neue"/>
                          <a:cs typeface="Helvetica Neue"/>
                          <a:sym typeface="Helvetica Neue"/>
                        </a:rPr>
                        <a:t> </a:t>
                      </a:r>
                      <a:r>
                        <a:rPr lang="en-US" sz="1300" b="0" i="0" u="sng" dirty="0">
                          <a:solidFill>
                            <a:schemeClr val="hlink"/>
                          </a:solidFill>
                          <a:latin typeface="Helvetica Neue"/>
                          <a:ea typeface="Helvetica Neue"/>
                          <a:cs typeface="Helvetica Neue"/>
                          <a:sym typeface="Helvetica Neue"/>
                          <a:hlinkClick r:id="rId3"/>
                        </a:rPr>
                        <a:t>https://github.com/sujal-chauhan/Driver-Drowsiness-Detection-System.git</a:t>
                      </a:r>
                      <a:endParaRPr b="0" dirty="0"/>
                    </a:p>
                  </a:txBody>
                  <a:tcPr marL="91450" marR="91450" marT="45725" marB="45725" anchor="ctr">
                    <a:solidFill>
                      <a:srgbClr val="D5D59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8512">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Team Member</a:t>
                      </a:r>
                      <a:endParaRPr/>
                    </a:p>
                  </a:txBody>
                  <a:tcPr marL="91450" marR="91450" marT="45725" marB="45725">
                    <a:solidFill>
                      <a:srgbClr val="D5D59B"/>
                    </a:solidFill>
                  </a:tcPr>
                </a:tc>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Roll No.</a:t>
                      </a:r>
                      <a:endParaRPr/>
                    </a:p>
                  </a:txBody>
                  <a:tcPr marL="91450" marR="91450" marT="45725" marB="45725">
                    <a:solidFill>
                      <a:srgbClr val="D5D59B"/>
                    </a:solidFill>
                  </a:tcPr>
                </a:tc>
                <a:tc>
                  <a:txBody>
                    <a:bodyPr/>
                    <a:lstStyle/>
                    <a:p>
                      <a:pPr marL="0" marR="0" lvl="0" indent="0" algn="ctr" rtl="0">
                        <a:spcBef>
                          <a:spcPts val="0"/>
                        </a:spcBef>
                        <a:spcAft>
                          <a:spcPts val="0"/>
                        </a:spcAft>
                        <a:buNone/>
                      </a:pPr>
                      <a:r>
                        <a:rPr lang="en-US" sz="1300" b="0" i="0" dirty="0">
                          <a:solidFill>
                            <a:schemeClr val="dk1"/>
                          </a:solidFill>
                          <a:latin typeface="Helvetica Neue"/>
                          <a:ea typeface="Helvetica Neue"/>
                          <a:cs typeface="Helvetica Neue"/>
                          <a:sym typeface="Helvetica Neue"/>
                        </a:rPr>
                        <a:t>Work Done</a:t>
                      </a:r>
                      <a:endParaRPr dirty="0"/>
                    </a:p>
                    <a:p>
                      <a:pPr marL="0" marR="0" lvl="0" indent="0" algn="ctr" rtl="0">
                        <a:spcBef>
                          <a:spcPts val="0"/>
                        </a:spcBef>
                        <a:spcAft>
                          <a:spcPts val="0"/>
                        </a:spcAft>
                        <a:buNone/>
                      </a:pPr>
                      <a:endParaRPr dirty="0"/>
                    </a:p>
                  </a:txBody>
                  <a:tcPr marL="91450" marR="91450" marT="45725" marB="45725">
                    <a:solidFill>
                      <a:srgbClr val="D5D59B"/>
                    </a:solidFill>
                  </a:tcPr>
                </a:tc>
                <a:tc>
                  <a:txBody>
                    <a:bodyPr/>
                    <a:lstStyle/>
                    <a:p>
                      <a:pPr marL="0" marR="0" lvl="0" indent="0" algn="ctr" rtl="0">
                        <a:lnSpc>
                          <a:spcPct val="100000"/>
                        </a:lnSpc>
                        <a:spcBef>
                          <a:spcPts val="0"/>
                        </a:spcBef>
                        <a:spcAft>
                          <a:spcPts val="0"/>
                        </a:spcAft>
                        <a:buClr>
                          <a:schemeClr val="dk1"/>
                        </a:buClr>
                        <a:buSzPts val="1300"/>
                        <a:buFont typeface="Helvetica Neue"/>
                        <a:buNone/>
                      </a:pPr>
                      <a:r>
                        <a:rPr lang="en-US" sz="1300" b="0" i="0">
                          <a:solidFill>
                            <a:schemeClr val="dk1"/>
                          </a:solidFill>
                          <a:latin typeface="Helvetica Neue"/>
                          <a:ea typeface="Helvetica Neue"/>
                          <a:cs typeface="Helvetica Neue"/>
                          <a:sym typeface="Helvetica Neue"/>
                        </a:rPr>
                        <a:t>Work Contribution (%)</a:t>
                      </a:r>
                      <a:endParaRPr/>
                    </a:p>
                  </a:txBody>
                  <a:tcPr marL="91450" marR="91450" marT="45725" marB="45725">
                    <a:solidFill>
                      <a:srgbClr val="D5D59B"/>
                    </a:solidFill>
                  </a:tcPr>
                </a:tc>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Lab Attendance (%)</a:t>
                      </a:r>
                      <a:endParaRPr/>
                    </a:p>
                  </a:txBody>
                  <a:tcPr marL="91450" marR="91450" marT="45725" marB="45725">
                    <a:solidFill>
                      <a:srgbClr val="D5D59B"/>
                    </a:solidFill>
                  </a:tcPr>
                </a:tc>
                <a:extLst>
                  <a:ext uri="{0D108BD9-81ED-4DB2-BD59-A6C34878D82A}">
                    <a16:rowId xmlns:a16="http://schemas.microsoft.com/office/drawing/2014/main" val="10001"/>
                  </a:ext>
                </a:extLst>
              </a:tr>
              <a:tr h="1210548">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1.</a:t>
                      </a:r>
                      <a:endParaRPr/>
                    </a:p>
                  </a:txBody>
                  <a:tcPr marL="91450" marR="91450" marT="45725" marB="45725">
                    <a:solidFill>
                      <a:srgbClr val="F4F9E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221030266</a:t>
                      </a:r>
                      <a:endParaRPr sz="1300" b="0" i="0">
                        <a:latin typeface="Helvetica Neue"/>
                        <a:ea typeface="Helvetica Neue"/>
                        <a:cs typeface="Helvetica Neue"/>
                        <a:sym typeface="Helvetica Neue"/>
                      </a:endParaRPr>
                    </a:p>
                  </a:txBody>
                  <a:tcPr marL="91450" marR="91450" marT="45725" marB="45725">
                    <a:solidFill>
                      <a:srgbClr val="F4F9ED"/>
                    </a:solidFill>
                  </a:tcPr>
                </a:tc>
                <a:tc>
                  <a:txBody>
                    <a:bodyPr/>
                    <a:lstStyle/>
                    <a:p>
                      <a:pPr marL="0" lvl="0" indent="0" algn="l" rtl="0">
                        <a:spcBef>
                          <a:spcPts val="0"/>
                        </a:spcBef>
                        <a:spcAft>
                          <a:spcPts val="0"/>
                        </a:spcAft>
                        <a:buNone/>
                      </a:pPr>
                      <a:endParaRPr sz="1300" dirty="0">
                        <a:latin typeface="Helvetica Neue"/>
                        <a:ea typeface="Helvetica Neue"/>
                        <a:cs typeface="Helvetica Neue"/>
                        <a:sym typeface="Helvetica Neue"/>
                      </a:endParaRPr>
                    </a:p>
                    <a:p>
                      <a:pPr marL="171450" lvl="0" indent="-171450" algn="l" rtl="0">
                        <a:spcBef>
                          <a:spcPts val="0"/>
                        </a:spcBef>
                        <a:spcAft>
                          <a:spcPts val="0"/>
                        </a:spcAft>
                        <a:buClr>
                          <a:schemeClr val="dk1"/>
                        </a:buClr>
                        <a:buSzPts val="1300"/>
                        <a:buChar char="•"/>
                      </a:pPr>
                      <a:r>
                        <a:rPr lang="en-GB" sz="1300" b="0" i="0" u="none" strike="noStrike" cap="none" dirty="0">
                          <a:solidFill>
                            <a:schemeClr val="dk1"/>
                          </a:solidFill>
                          <a:effectLst/>
                          <a:latin typeface="Helvetica Neue" panose="020B0604020202020204" charset="0"/>
                          <a:ea typeface="Helvetica"/>
                          <a:cs typeface="Helvetica"/>
                          <a:sym typeface="Arial"/>
                        </a:rPr>
                        <a:t>Led problem definition and literature survey: finalized project topic, surveyed 20+ research papers, prepared literature review tables, and identified key gaps and objectives based on recent CNN/LSTM, </a:t>
                      </a:r>
                      <a:r>
                        <a:rPr lang="en-GB" sz="1300" b="0" i="0" u="none" strike="noStrike" cap="none" dirty="0" err="1">
                          <a:solidFill>
                            <a:schemeClr val="dk1"/>
                          </a:solidFill>
                          <a:effectLst/>
                          <a:latin typeface="Helvetica Neue" panose="020B0604020202020204" charset="0"/>
                          <a:ea typeface="Helvetica"/>
                          <a:cs typeface="Helvetica"/>
                          <a:sym typeface="Arial"/>
                        </a:rPr>
                        <a:t>ViT</a:t>
                      </a:r>
                      <a:r>
                        <a:rPr lang="en-GB" sz="1300" b="0" i="0" u="none" strike="noStrike" cap="none" dirty="0">
                          <a:solidFill>
                            <a:schemeClr val="dk1"/>
                          </a:solidFill>
                          <a:effectLst/>
                          <a:latin typeface="Helvetica Neue" panose="020B0604020202020204" charset="0"/>
                          <a:ea typeface="Helvetica"/>
                          <a:cs typeface="Helvetica"/>
                          <a:sym typeface="Arial"/>
                        </a:rPr>
                        <a:t>, and multimodal methods.</a:t>
                      </a:r>
                      <a:endParaRPr sz="1300" dirty="0">
                        <a:latin typeface="Helvetica Neue" panose="020B0604020202020204" charset="0"/>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sz="1300" b="0" i="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dirty="0">
                          <a:latin typeface="Helvetica Neue"/>
                          <a:ea typeface="Helvetica Neue"/>
                          <a:cs typeface="Helvetica Neue"/>
                          <a:sym typeface="Helvetica Neue"/>
                        </a:rPr>
                        <a:t>80%&gt;</a:t>
                      </a:r>
                      <a:endParaRPr sz="1300" b="0" i="0" dirty="0">
                        <a:latin typeface="Helvetica Neue"/>
                        <a:ea typeface="Helvetica Neue"/>
                        <a:cs typeface="Helvetica Neue"/>
                        <a:sym typeface="Helvetica Neue"/>
                      </a:endParaRPr>
                    </a:p>
                  </a:txBody>
                  <a:tcPr marL="91450" marR="91450" marT="45725" marB="45725">
                    <a:solidFill>
                      <a:srgbClr val="F4F9ED"/>
                    </a:solidFill>
                  </a:tcPr>
                </a:tc>
                <a:extLst>
                  <a:ext uri="{0D108BD9-81ED-4DB2-BD59-A6C34878D82A}">
                    <a16:rowId xmlns:a16="http://schemas.microsoft.com/office/drawing/2014/main" val="10002"/>
                  </a:ext>
                </a:extLst>
              </a:tr>
              <a:tr h="1210548">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2.</a:t>
                      </a:r>
                      <a:endParaRPr/>
                    </a:p>
                  </a:txBody>
                  <a:tcPr marL="91450" marR="91450" marT="45725" marB="45725">
                    <a:solidFill>
                      <a:srgbClr val="F0F0D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221030228</a:t>
                      </a:r>
                      <a:endParaRPr sz="13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171450" marR="0" lvl="0" indent="-88900" algn="l" rtl="0">
                        <a:spcBef>
                          <a:spcPts val="0"/>
                        </a:spcBef>
                        <a:spcAft>
                          <a:spcPts val="0"/>
                        </a:spcAft>
                        <a:buClr>
                          <a:schemeClr val="dk1"/>
                        </a:buClr>
                        <a:buSzPts val="1300"/>
                        <a:buFont typeface="Arial"/>
                        <a:buNone/>
                      </a:pPr>
                      <a:endParaRPr sz="1300" b="0" i="0" dirty="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IN" sz="1300" b="0" i="0" u="none" strike="noStrike" cap="none" dirty="0">
                          <a:solidFill>
                            <a:schemeClr val="dk1"/>
                          </a:solidFill>
                          <a:effectLst/>
                          <a:latin typeface="Helvetica Neue" panose="020B0604020202020204" charset="0"/>
                          <a:ea typeface="Helvetica"/>
                          <a:cs typeface="Helvetica"/>
                          <a:sym typeface="Arial"/>
                        </a:rPr>
                        <a:t>Led system design and dataset pipeline: designed overall architecture and data‑flow diagrams, set up MRL Eye Dataset preprocessing (grayscale, resizing, normalization, augmentation, train/validation split).</a:t>
                      </a:r>
                      <a:endParaRPr sz="1300" dirty="0">
                        <a:latin typeface="Helvetica Neue" panose="020B0604020202020204" charset="0"/>
                        <a:ea typeface="Helvetica Neue"/>
                        <a:cs typeface="Helvetica Neue"/>
                        <a:sym typeface="Helvetica Neue"/>
                      </a:endParaRPr>
                    </a:p>
                  </a:txBody>
                  <a:tcPr marL="91450" marR="91450" marT="45725" marB="45725">
                    <a:solidFill>
                      <a:srgbClr val="F0F0D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sz="1300" b="0" i="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ctr" rtl="0">
                        <a:spcBef>
                          <a:spcPts val="0"/>
                        </a:spcBef>
                        <a:spcAft>
                          <a:spcPts val="0"/>
                        </a:spcAft>
                        <a:buClr>
                          <a:schemeClr val="dk1"/>
                        </a:buClr>
                        <a:buSzPts val="1300"/>
                        <a:buFont typeface="Arial"/>
                        <a:buNone/>
                      </a:pPr>
                      <a:r>
                        <a:rPr lang="en-US" sz="1300" dirty="0">
                          <a:latin typeface="Helvetica Neue"/>
                          <a:ea typeface="Helvetica Neue"/>
                          <a:cs typeface="Helvetica Neue"/>
                          <a:sym typeface="Helvetica Neue"/>
                        </a:rPr>
                        <a:t>80%&gt;</a:t>
                      </a:r>
                      <a:endParaRPr lang="en-US" sz="1300" b="0" i="0" dirty="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3"/>
                  </a:ext>
                </a:extLst>
              </a:tr>
              <a:tr h="1023203">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3.</a:t>
                      </a:r>
                      <a:endParaRPr/>
                    </a:p>
                  </a:txBody>
                  <a:tcPr marL="91450" marR="91450" marT="45725" marB="45725">
                    <a:solidFill>
                      <a:srgbClr val="F4F9E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221030235</a:t>
                      </a:r>
                      <a:endParaRPr sz="1300" b="0" i="0">
                        <a:latin typeface="Helvetica Neue"/>
                        <a:ea typeface="Helvetica Neue"/>
                        <a:cs typeface="Helvetica Neue"/>
                        <a:sym typeface="Helvetica Neue"/>
                      </a:endParaRPr>
                    </a:p>
                  </a:txBody>
                  <a:tcPr marL="91450" marR="91450" marT="45725" marB="45725">
                    <a:solidFill>
                      <a:srgbClr val="F4F9ED"/>
                    </a:solidFill>
                  </a:tcPr>
                </a:tc>
                <a:tc>
                  <a:txBody>
                    <a:bodyPr/>
                    <a:lstStyle/>
                    <a:p>
                      <a:pPr marL="171450" marR="0" lvl="0" indent="-171450" algn="l" rtl="0">
                        <a:spcBef>
                          <a:spcPts val="0"/>
                        </a:spcBef>
                        <a:spcAft>
                          <a:spcPts val="0"/>
                        </a:spcAft>
                        <a:buClr>
                          <a:schemeClr val="dk1"/>
                        </a:buClr>
                        <a:buSzPts val="1300"/>
                        <a:buFont typeface="Arial"/>
                        <a:buChar char="•"/>
                      </a:pPr>
                      <a:r>
                        <a:rPr lang="en-GB" sz="1300" dirty="0">
                          <a:latin typeface="Helvetica Neue"/>
                          <a:ea typeface="Helvetica Neue"/>
                          <a:cs typeface="Helvetica Neue"/>
                          <a:sym typeface="Helvetica Neue"/>
                        </a:rPr>
                        <a:t>Led model development and experimentation: implemented and trained the 24×24 CNN model, tuned hyperparameters, ran evaluation experiments (accuracy, precision, recall, F1‑score)</a:t>
                      </a:r>
                      <a:endParaRPr sz="1300" dirty="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sz="1300" b="0" i="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dirty="0">
                          <a:latin typeface="Helvetica Neue"/>
                          <a:ea typeface="Helvetica Neue"/>
                          <a:cs typeface="Helvetica Neue"/>
                          <a:sym typeface="Helvetica Neue"/>
                        </a:rPr>
                        <a:t>80%&gt;</a:t>
                      </a:r>
                      <a:endParaRPr lang="en-US" sz="1300" b="0" i="0" dirty="0">
                        <a:latin typeface="Helvetica Neue"/>
                        <a:ea typeface="Helvetica Neue"/>
                        <a:cs typeface="Helvetica Neue"/>
                        <a:sym typeface="Helvetica Neue"/>
                      </a:endParaRPr>
                    </a:p>
                  </a:txBody>
                  <a:tcPr marL="91450" marR="91450" marT="45725" marB="45725">
                    <a:solidFill>
                      <a:srgbClr val="F4F9ED"/>
                    </a:solidFill>
                  </a:tcPr>
                </a:tc>
                <a:extLst>
                  <a:ext uri="{0D108BD9-81ED-4DB2-BD59-A6C34878D82A}">
                    <a16:rowId xmlns:a16="http://schemas.microsoft.com/office/drawing/2014/main" val="10004"/>
                  </a:ext>
                </a:extLst>
              </a:tr>
              <a:tr h="1210548">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4.</a:t>
                      </a:r>
                      <a:endParaRPr/>
                    </a:p>
                  </a:txBody>
                  <a:tcPr marL="91450" marR="91450" marT="45725" marB="45725">
                    <a:solidFill>
                      <a:srgbClr val="F4F9E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221030304</a:t>
                      </a:r>
                      <a:endParaRPr sz="1300" b="0" i="0">
                        <a:latin typeface="Helvetica Neue"/>
                        <a:ea typeface="Helvetica Neue"/>
                        <a:cs typeface="Helvetica Neue"/>
                        <a:sym typeface="Helvetica Neue"/>
                      </a:endParaRPr>
                    </a:p>
                  </a:txBody>
                  <a:tcPr marL="91450" marR="91450" marT="45725" marB="45725">
                    <a:solidFill>
                      <a:srgbClr val="F4F9ED"/>
                    </a:solidFill>
                  </a:tcPr>
                </a:tc>
                <a:tc>
                  <a:txBody>
                    <a:bodyPr/>
                    <a:lstStyle/>
                    <a:p>
                      <a:pPr marL="171450" marR="0" lvl="0" indent="-88900" algn="l" rtl="0">
                        <a:spcBef>
                          <a:spcPts val="0"/>
                        </a:spcBef>
                        <a:spcAft>
                          <a:spcPts val="0"/>
                        </a:spcAft>
                        <a:buClr>
                          <a:schemeClr val="dk1"/>
                        </a:buClr>
                        <a:buSzPts val="1300"/>
                        <a:buFont typeface="Arial"/>
                        <a:buNone/>
                      </a:pPr>
                      <a:endParaRPr sz="1300" b="0" i="0" dirty="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GB" sz="1300" dirty="0">
                          <a:latin typeface="Helvetica Neue"/>
                          <a:ea typeface="Helvetica Neue"/>
                          <a:cs typeface="Helvetica Neue"/>
                          <a:sym typeface="Helvetica Neue"/>
                        </a:rPr>
                        <a:t>Led integration, testing, and documentation: integrated webcam, Haar cascades, scoring and alert modules into a full pipeline, carried out real‑time testing under different conditions.</a:t>
                      </a:r>
                      <a:endParaRPr sz="1300" dirty="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25%</a:t>
                      </a:r>
                      <a:endParaRPr sz="1300" b="0" i="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dirty="0">
                          <a:latin typeface="Helvetica Neue"/>
                          <a:ea typeface="Helvetica Neue"/>
                          <a:cs typeface="Helvetica Neue"/>
                          <a:sym typeface="Helvetica Neue"/>
                        </a:rPr>
                        <a:t>80%&gt;</a:t>
                      </a:r>
                      <a:endParaRPr lang="en-US" sz="1300" b="0" i="0" dirty="0">
                        <a:latin typeface="Helvetica Neue"/>
                        <a:ea typeface="Helvetica Neue"/>
                        <a:cs typeface="Helvetica Neue"/>
                        <a:sym typeface="Helvetica Neue"/>
                      </a:endParaRPr>
                    </a:p>
                  </a:txBody>
                  <a:tcPr marL="91450" marR="91450" marT="45725" marB="45725">
                    <a:solidFill>
                      <a:srgbClr val="F4F9ED"/>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Supervisor </a:t>
            </a:r>
            <a:r>
              <a:rPr lang="en-US"/>
              <a:t>Interactions </a:t>
            </a:r>
            <a:endParaRPr b="0"/>
          </a:p>
        </p:txBody>
      </p:sp>
      <p:sp>
        <p:nvSpPr>
          <p:cNvPr id="180" name="Google Shape;180;p23"/>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2250"/>
              <a:buFont typeface="Arial"/>
              <a:buNone/>
            </a:pPr>
            <a:endParaRPr sz="1800">
              <a:solidFill>
                <a:schemeClr val="dk1"/>
              </a:solidFill>
              <a:latin typeface="Helvetica Neue"/>
              <a:ea typeface="Helvetica Neue"/>
              <a:cs typeface="Helvetica Neue"/>
              <a:sym typeface="Helvetica Neue"/>
            </a:endParaRPr>
          </a:p>
        </p:txBody>
      </p:sp>
      <p:graphicFrame>
        <p:nvGraphicFramePr>
          <p:cNvPr id="181" name="Google Shape;181;p23"/>
          <p:cNvGraphicFramePr/>
          <p:nvPr/>
        </p:nvGraphicFramePr>
        <p:xfrm>
          <a:off x="110168" y="881350"/>
          <a:ext cx="8835525" cy="5073475"/>
        </p:xfrm>
        <a:graphic>
          <a:graphicData uri="http://schemas.openxmlformats.org/drawingml/2006/table">
            <a:tbl>
              <a:tblPr firstRow="1" bandRow="1">
                <a:noFill/>
                <a:tableStyleId>{65DD5067-7E9F-42BD-843D-25329A0267B5}</a:tableStyleId>
              </a:tblPr>
              <a:tblGrid>
                <a:gridCol w="651825">
                  <a:extLst>
                    <a:ext uri="{9D8B030D-6E8A-4147-A177-3AD203B41FA5}">
                      <a16:colId xmlns:a16="http://schemas.microsoft.com/office/drawing/2014/main" val="20000"/>
                    </a:ext>
                  </a:extLst>
                </a:gridCol>
                <a:gridCol w="1364250">
                  <a:extLst>
                    <a:ext uri="{9D8B030D-6E8A-4147-A177-3AD203B41FA5}">
                      <a16:colId xmlns:a16="http://schemas.microsoft.com/office/drawing/2014/main" val="20001"/>
                    </a:ext>
                  </a:extLst>
                </a:gridCol>
                <a:gridCol w="5596575">
                  <a:extLst>
                    <a:ext uri="{9D8B030D-6E8A-4147-A177-3AD203B41FA5}">
                      <a16:colId xmlns:a16="http://schemas.microsoft.com/office/drawing/2014/main" val="20002"/>
                    </a:ext>
                  </a:extLst>
                </a:gridCol>
                <a:gridCol w="1222875">
                  <a:extLst>
                    <a:ext uri="{9D8B030D-6E8A-4147-A177-3AD203B41FA5}">
                      <a16:colId xmlns:a16="http://schemas.microsoft.com/office/drawing/2014/main" val="20003"/>
                    </a:ext>
                  </a:extLst>
                </a:gridCol>
              </a:tblGrid>
              <a:tr h="426075">
                <a:tc gridSpan="4">
                  <a:txBody>
                    <a:bodyPr/>
                    <a:lstStyle/>
                    <a:p>
                      <a:pPr marL="0" marR="0" lvl="0" indent="0" algn="ctr" rtl="0">
                        <a:spcBef>
                          <a:spcPts val="0"/>
                        </a:spcBef>
                        <a:spcAft>
                          <a:spcPts val="0"/>
                        </a:spcAft>
                        <a:buNone/>
                      </a:pPr>
                      <a:r>
                        <a:rPr lang="en-US" sz="1300" b="1" i="0">
                          <a:solidFill>
                            <a:schemeClr val="dk1"/>
                          </a:solidFill>
                          <a:latin typeface="Helvetica Neue"/>
                          <a:ea typeface="Helvetica Neue"/>
                          <a:cs typeface="Helvetica Neue"/>
                          <a:sym typeface="Helvetica Neue"/>
                        </a:rPr>
                        <a:t>No. of Meetings with Supervisor: 5</a:t>
                      </a:r>
                      <a:endParaRPr/>
                    </a:p>
                  </a:txBody>
                  <a:tcPr marL="91450" marR="91450" marT="45725" marB="45725" anchor="ctr">
                    <a:solidFill>
                      <a:srgbClr val="D5D59B"/>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400">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Week No.</a:t>
                      </a:r>
                      <a:endParaRPr/>
                    </a:p>
                  </a:txBody>
                  <a:tcPr marL="91450" marR="91450" marT="45725" marB="45725">
                    <a:solidFill>
                      <a:srgbClr val="D5D59B"/>
                    </a:solidFill>
                  </a:tcPr>
                </a:tc>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Duration</a:t>
                      </a:r>
                      <a:endParaRPr/>
                    </a:p>
                  </a:txBody>
                  <a:tcPr marL="91450" marR="91450" marT="45725" marB="45725">
                    <a:solidFill>
                      <a:srgbClr val="D5D59B"/>
                    </a:solidFill>
                  </a:tcPr>
                </a:tc>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Remarks </a:t>
                      </a:r>
                      <a:endParaRPr/>
                    </a:p>
                  </a:txBody>
                  <a:tcPr marL="91450" marR="91450" marT="45725" marB="45725">
                    <a:solidFill>
                      <a:srgbClr val="D5D59B"/>
                    </a:solidFill>
                  </a:tcPr>
                </a:tc>
                <a:tc>
                  <a:txBody>
                    <a:bodyPr/>
                    <a:lstStyle/>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Incorporated</a:t>
                      </a:r>
                      <a:endParaRPr/>
                    </a:p>
                    <a:p>
                      <a:pPr marL="0" marR="0" lvl="0" indent="0" algn="ctr" rtl="0">
                        <a:spcBef>
                          <a:spcPts val="0"/>
                        </a:spcBef>
                        <a:spcAft>
                          <a:spcPts val="0"/>
                        </a:spcAft>
                        <a:buNone/>
                      </a:pPr>
                      <a:r>
                        <a:rPr lang="en-US" sz="1300" b="0" i="0">
                          <a:solidFill>
                            <a:schemeClr val="dk1"/>
                          </a:solidFill>
                          <a:latin typeface="Helvetica Neue"/>
                          <a:ea typeface="Helvetica Neue"/>
                          <a:cs typeface="Helvetica Neue"/>
                          <a:sym typeface="Helvetica Neue"/>
                        </a:rPr>
                        <a:t>(Yes/No)</a:t>
                      </a:r>
                      <a:endParaRPr/>
                    </a:p>
                  </a:txBody>
                  <a:tcPr marL="91450" marR="91450" marT="45725" marB="45725">
                    <a:solidFill>
                      <a:srgbClr val="D5D59B"/>
                    </a:solidFill>
                  </a:tcPr>
                </a:tc>
                <a:extLst>
                  <a:ext uri="{0D108BD9-81ED-4DB2-BD59-A6C34878D82A}">
                    <a16:rowId xmlns:a16="http://schemas.microsoft.com/office/drawing/2014/main" val="10001"/>
                  </a:ext>
                </a:extLst>
              </a:tr>
              <a:tr h="828000">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1.</a:t>
                      </a:r>
                      <a:endParaRPr/>
                    </a:p>
                  </a:txBody>
                  <a:tcPr marL="91450" marR="91450" marT="45725" marB="45725">
                    <a:solidFill>
                      <a:srgbClr val="F4F9E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25</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08</a:t>
                      </a:r>
                      <a:r>
                        <a:rPr lang="en-US" sz="1300" b="0" i="0">
                          <a:latin typeface="Helvetica Neue"/>
                          <a:ea typeface="Helvetica Neue"/>
                          <a:cs typeface="Helvetica Neue"/>
                          <a:sym typeface="Helvetica Neue"/>
                        </a:rPr>
                        <a:t>/2025 </a:t>
                      </a:r>
                      <a:endParaRPr/>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a:p>
                    <a:p>
                      <a:pPr marL="0" marR="0" lvl="0" indent="0" algn="ctr" rtl="0">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29</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08</a:t>
                      </a:r>
                      <a:r>
                        <a:rPr lang="en-US" sz="1300" b="0" i="0">
                          <a:latin typeface="Helvetica Neue"/>
                          <a:ea typeface="Helvetica Neue"/>
                          <a:cs typeface="Helvetica Neue"/>
                          <a:sym typeface="Helvetica Neue"/>
                        </a:rPr>
                        <a:t>/2025</a:t>
                      </a:r>
                      <a:endParaRPr/>
                    </a:p>
                  </a:txBody>
                  <a:tcPr marL="91450" marR="91450" marT="45725" marB="45725">
                    <a:solidFill>
                      <a:srgbClr val="F4F9ED"/>
                    </a:solidFill>
                  </a:tcPr>
                </a:tc>
                <a:tc>
                  <a:txBody>
                    <a:bodyPr/>
                    <a:lstStyle/>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Explore different project ideas and finalize a project.</a:t>
                      </a:r>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45725" marB="45725">
                    <a:solidFill>
                      <a:srgbClr val="F4F9ED"/>
                    </a:solidFill>
                  </a:tcPr>
                </a:tc>
                <a:extLst>
                  <a:ext uri="{0D108BD9-81ED-4DB2-BD59-A6C34878D82A}">
                    <a16:rowId xmlns:a16="http://schemas.microsoft.com/office/drawing/2014/main" val="10002"/>
                  </a:ext>
                </a:extLst>
              </a:tr>
              <a:tr h="828000">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2.</a:t>
                      </a:r>
                      <a:endParaRPr/>
                    </a:p>
                  </a:txBody>
                  <a:tcPr marL="91450" marR="91450" marT="45725" marB="45725">
                    <a:solidFill>
                      <a:srgbClr val="F0F0D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29</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08</a:t>
                      </a:r>
                      <a:r>
                        <a:rPr lang="en-US" sz="1300" b="0" i="0">
                          <a:latin typeface="Helvetica Neue"/>
                          <a:ea typeface="Helvetica Neue"/>
                          <a:cs typeface="Helvetica Neue"/>
                          <a:sym typeface="Helvetica Neue"/>
                        </a:rPr>
                        <a:t>/2025 </a:t>
                      </a:r>
                      <a:endParaRPr/>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a:p>
                    <a:p>
                      <a:pPr marL="0" marR="0" lvl="0" indent="0" algn="ctr" rtl="0">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17</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lang="en-US" sz="1300" b="0" i="0">
                          <a:latin typeface="Helvetica Neue"/>
                          <a:ea typeface="Helvetica Neue"/>
                          <a:cs typeface="Helvetica Neue"/>
                          <a:sym typeface="Helvetica Neue"/>
                        </a:rPr>
                        <a:t>/2025</a:t>
                      </a:r>
                      <a:endParaRPr/>
                    </a:p>
                  </a:txBody>
                  <a:tcPr marL="91450" marR="91450" marT="45725" marB="45725">
                    <a:solidFill>
                      <a:srgbClr val="F0F0DD"/>
                    </a:solidFill>
                  </a:tcPr>
                </a:tc>
                <a:tc>
                  <a:txBody>
                    <a:bodyPr/>
                    <a:lstStyle/>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Read 5 papers per each member on Driver Drowsiness Detection. </a:t>
                      </a:r>
                      <a:endParaRPr sz="130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Create review table for research paper entry.</a:t>
                      </a:r>
                      <a:endParaRPr sz="1300">
                        <a:latin typeface="Helvetica Neue"/>
                        <a:ea typeface="Helvetica Neue"/>
                        <a:cs typeface="Helvetica Neue"/>
                        <a:sym typeface="Helvetica Neue"/>
                      </a:endParaRPr>
                    </a:p>
                    <a:p>
                      <a:pPr marL="0" marR="0" lvl="0" indent="0" algn="l" rtl="0">
                        <a:spcBef>
                          <a:spcPts val="0"/>
                        </a:spcBef>
                        <a:spcAft>
                          <a:spcPts val="0"/>
                        </a:spcAft>
                        <a:buNone/>
                      </a:pPr>
                      <a:endParaRPr sz="13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3"/>
                  </a:ext>
                </a:extLst>
              </a:tr>
              <a:tr h="828000">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3.</a:t>
                      </a:r>
                      <a:endParaRPr/>
                    </a:p>
                  </a:txBody>
                  <a:tcPr marL="91450" marR="91450" marT="45725" marB="45725">
                    <a:solidFill>
                      <a:srgbClr val="F4F9E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17</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lang="en-US" sz="1300" b="0" i="0">
                          <a:latin typeface="Helvetica Neue"/>
                          <a:ea typeface="Helvetica Neue"/>
                          <a:cs typeface="Helvetica Neue"/>
                          <a:sym typeface="Helvetica Neue"/>
                        </a:rPr>
                        <a:t>/2025 </a:t>
                      </a:r>
                      <a:endParaRPr/>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a:p>
                    <a:p>
                      <a:pPr marL="0" marR="0" lvl="0" indent="0" algn="ctr" rtl="0">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20</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lang="en-US" sz="1300" b="0" i="0">
                          <a:latin typeface="Helvetica Neue"/>
                          <a:ea typeface="Helvetica Neue"/>
                          <a:cs typeface="Helvetica Neue"/>
                          <a:sym typeface="Helvetica Neue"/>
                        </a:rPr>
                        <a:t>/2025</a:t>
                      </a:r>
                      <a:endParaRPr/>
                    </a:p>
                  </a:txBody>
                  <a:tcPr marL="91450" marR="91450" marT="45725" marB="45725">
                    <a:solidFill>
                      <a:srgbClr val="F4F9ED"/>
                    </a:solidFill>
                  </a:tcPr>
                </a:tc>
                <a:tc>
                  <a:txBody>
                    <a:bodyPr/>
                    <a:lstStyle/>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Create review table. </a:t>
                      </a:r>
                      <a:endParaRPr sz="130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Add all papers to the review table. </a:t>
                      </a:r>
                      <a:endParaRPr sz="130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Cross check entries to avoid repetition.</a:t>
                      </a:r>
                      <a:endParaRPr sz="130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45725" marB="45725">
                    <a:solidFill>
                      <a:srgbClr val="F4F9ED"/>
                    </a:solidFill>
                  </a:tcPr>
                </a:tc>
                <a:extLst>
                  <a:ext uri="{0D108BD9-81ED-4DB2-BD59-A6C34878D82A}">
                    <a16:rowId xmlns:a16="http://schemas.microsoft.com/office/drawing/2014/main" val="10004"/>
                  </a:ext>
                </a:extLst>
              </a:tr>
              <a:tr h="828000">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4.</a:t>
                      </a:r>
                      <a:endParaRPr/>
                    </a:p>
                  </a:txBody>
                  <a:tcPr marL="91450" marR="91450" marT="45725" marB="45725">
                    <a:solidFill>
                      <a:srgbClr val="F0F0DD"/>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20</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lang="en-US" sz="1300" b="0" i="0">
                          <a:latin typeface="Helvetica Neue"/>
                          <a:ea typeface="Helvetica Neue"/>
                          <a:cs typeface="Helvetica Neue"/>
                          <a:sym typeface="Helvetica Neue"/>
                        </a:rPr>
                        <a:t>/2025 </a:t>
                      </a:r>
                      <a:endParaRPr/>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a:p>
                    <a:p>
                      <a:pPr marL="0" marR="0" lvl="0" indent="0" algn="ctr" rtl="0">
                        <a:lnSpc>
                          <a:spcPct val="100000"/>
                        </a:lnSpc>
                        <a:spcBef>
                          <a:spcPts val="0"/>
                        </a:spcBef>
                        <a:spcAft>
                          <a:spcPts val="0"/>
                        </a:spcAft>
                        <a:buClr>
                          <a:schemeClr val="dk1"/>
                        </a:buClr>
                        <a:buSzPts val="1300"/>
                        <a:buFont typeface="Helvetica Neue"/>
                        <a:buNone/>
                      </a:pPr>
                      <a:r>
                        <a:rPr lang="en-US" sz="1300">
                          <a:latin typeface="Helvetica Neue"/>
                          <a:ea typeface="Helvetica Neue"/>
                          <a:cs typeface="Helvetica Neue"/>
                          <a:sym typeface="Helvetica Neue"/>
                        </a:rPr>
                        <a:t>24</a:t>
                      </a:r>
                      <a:r>
                        <a:rPr lang="en-US" sz="1300" b="0" i="0">
                          <a:latin typeface="Helvetica Neue"/>
                          <a:ea typeface="Helvetica Neue"/>
                          <a:cs typeface="Helvetica Neue"/>
                          <a:sym typeface="Helvetica Neue"/>
                        </a:rPr>
                        <a:t>/</a:t>
                      </a:r>
                      <a:r>
                        <a:rPr lang="en-US" sz="1300">
                          <a:latin typeface="Helvetica Neue"/>
                          <a:ea typeface="Helvetica Neue"/>
                          <a:cs typeface="Helvetica Neue"/>
                          <a:sym typeface="Helvetica Neue"/>
                        </a:rPr>
                        <a:t>09</a:t>
                      </a:r>
                      <a:r>
                        <a:rPr lang="en-US" sz="1300" b="0" i="0">
                          <a:latin typeface="Helvetica Neue"/>
                          <a:ea typeface="Helvetica Neue"/>
                          <a:cs typeface="Helvetica Neue"/>
                          <a:sym typeface="Helvetica Neue"/>
                        </a:rPr>
                        <a:t>/2025</a:t>
                      </a:r>
                      <a:endParaRPr/>
                    </a:p>
                  </a:txBody>
                  <a:tcPr marL="91450" marR="91450" marT="45725" marB="45725">
                    <a:solidFill>
                      <a:srgbClr val="F0F0DD"/>
                    </a:solidFill>
                  </a:tcPr>
                </a:tc>
                <a:tc>
                  <a:txBody>
                    <a:bodyPr/>
                    <a:lstStyle/>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Research old project reports and PPTs. </a:t>
                      </a:r>
                      <a:endParaRPr sz="130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Understand expected formatting and content style. </a:t>
                      </a:r>
                      <a:endParaRPr sz="130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Plan the structure and content flow for both report and ppt.</a:t>
                      </a:r>
                      <a:endParaRPr sz="1300">
                        <a:latin typeface="Helvetica Neue"/>
                        <a:ea typeface="Helvetica Neue"/>
                        <a:cs typeface="Helvetica Neue"/>
                        <a:sym typeface="Helvetica Neue"/>
                      </a:endParaRPr>
                    </a:p>
                  </a:txBody>
                  <a:tcPr marL="91450" marR="91450" marT="45725" marB="45725">
                    <a:solidFill>
                      <a:srgbClr val="F0F0DD"/>
                    </a:solidFill>
                  </a:tcPr>
                </a:tc>
                <a:tc>
                  <a:txBody>
                    <a:bodyPr/>
                    <a:lstStyle/>
                    <a:p>
                      <a:pPr marL="0" marR="0" lvl="0" indent="0" algn="ctr" rtl="0">
                        <a:spcBef>
                          <a:spcPts val="0"/>
                        </a:spcBef>
                        <a:spcAft>
                          <a:spcPts val="0"/>
                        </a:spcAft>
                        <a:buClr>
                          <a:schemeClr val="dk1"/>
                        </a:buClr>
                        <a:buSzPts val="1300"/>
                        <a:buFont typeface="Arial"/>
                        <a:buNone/>
                      </a:pPr>
                      <a:r>
                        <a:rPr lang="en-US" sz="1300">
                          <a:latin typeface="Helvetica Neue"/>
                          <a:ea typeface="Helvetica Neue"/>
                          <a:cs typeface="Helvetica Neue"/>
                          <a:sym typeface="Helvetica Neue"/>
                        </a:rPr>
                        <a:t>Yes</a:t>
                      </a:r>
                      <a:endParaRPr sz="1300" b="0" i="0">
                        <a:latin typeface="Helvetica Neue"/>
                        <a:ea typeface="Helvetica Neue"/>
                        <a:cs typeface="Helvetica Neue"/>
                        <a:sym typeface="Helvetica Neue"/>
                      </a:endParaRPr>
                    </a:p>
                  </a:txBody>
                  <a:tcPr marL="91450" marR="91450" marT="45725" marB="45725">
                    <a:solidFill>
                      <a:srgbClr val="F0F0DD"/>
                    </a:solidFill>
                  </a:tcPr>
                </a:tc>
                <a:extLst>
                  <a:ext uri="{0D108BD9-81ED-4DB2-BD59-A6C34878D82A}">
                    <a16:rowId xmlns:a16="http://schemas.microsoft.com/office/drawing/2014/main" val="10005"/>
                  </a:ext>
                </a:extLst>
              </a:tr>
              <a:tr h="828000">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5.</a:t>
                      </a:r>
                      <a:endParaRPr/>
                    </a:p>
                  </a:txBody>
                  <a:tcPr marL="91450" marR="91450" marT="45725" marB="45725">
                    <a:solidFill>
                      <a:srgbClr val="F4F9ED"/>
                    </a:solidFill>
                  </a:tcPr>
                </a:tc>
                <a:tc>
                  <a:txBody>
                    <a:bodyPr/>
                    <a:lstStyle/>
                    <a:p>
                      <a:pPr marL="0" marR="0" lvl="0" indent="0" algn="ctr" rtl="0">
                        <a:spcBef>
                          <a:spcPts val="0"/>
                        </a:spcBef>
                        <a:spcAft>
                          <a:spcPts val="0"/>
                        </a:spcAft>
                        <a:buNone/>
                      </a:pPr>
                      <a:r>
                        <a:rPr lang="en-US" sz="1300" dirty="0">
                          <a:latin typeface="Helvetica Neue"/>
                          <a:ea typeface="Helvetica Neue"/>
                          <a:cs typeface="Helvetica Neue"/>
                          <a:sym typeface="Helvetica Neue"/>
                        </a:rPr>
                        <a:t>24</a:t>
                      </a:r>
                      <a:r>
                        <a:rPr lang="en-US" sz="1300" b="0" i="0" dirty="0">
                          <a:latin typeface="Helvetica Neue"/>
                          <a:ea typeface="Helvetica Neue"/>
                          <a:cs typeface="Helvetica Neue"/>
                          <a:sym typeface="Helvetica Neue"/>
                        </a:rPr>
                        <a:t>/</a:t>
                      </a:r>
                      <a:r>
                        <a:rPr lang="en-US" sz="1300" dirty="0">
                          <a:latin typeface="Helvetica Neue"/>
                          <a:ea typeface="Helvetica Neue"/>
                          <a:cs typeface="Helvetica Neue"/>
                          <a:sym typeface="Helvetica Neue"/>
                        </a:rPr>
                        <a:t>09</a:t>
                      </a:r>
                      <a:r>
                        <a:rPr lang="en-US" sz="1300" b="0" i="0" dirty="0">
                          <a:latin typeface="Helvetica Neue"/>
                          <a:ea typeface="Helvetica Neue"/>
                          <a:cs typeface="Helvetica Neue"/>
                          <a:sym typeface="Helvetica Neue"/>
                        </a:rPr>
                        <a:t>/2025 </a:t>
                      </a:r>
                      <a:endParaRPr dirty="0"/>
                    </a:p>
                    <a:p>
                      <a:pPr marL="0" marR="0" lvl="0" indent="0" algn="ctr" rtl="0">
                        <a:spcBef>
                          <a:spcPts val="0"/>
                        </a:spcBef>
                        <a:spcAft>
                          <a:spcPts val="0"/>
                        </a:spcAft>
                        <a:buNone/>
                      </a:pPr>
                      <a:r>
                        <a:rPr lang="en-US" sz="1300" b="0" i="0" dirty="0">
                          <a:latin typeface="Helvetica Neue"/>
                          <a:ea typeface="Helvetica Neue"/>
                          <a:cs typeface="Helvetica Neue"/>
                          <a:sym typeface="Helvetica Neue"/>
                        </a:rPr>
                        <a:t>to</a:t>
                      </a:r>
                      <a:endParaRPr dirty="0"/>
                    </a:p>
                    <a:p>
                      <a:pPr marL="0" marR="0" lvl="0" indent="0" algn="ctr" rtl="0">
                        <a:lnSpc>
                          <a:spcPct val="100000"/>
                        </a:lnSpc>
                        <a:spcBef>
                          <a:spcPts val="0"/>
                        </a:spcBef>
                        <a:spcAft>
                          <a:spcPts val="0"/>
                        </a:spcAft>
                        <a:buClr>
                          <a:schemeClr val="dk1"/>
                        </a:buClr>
                        <a:buSzPts val="1300"/>
                        <a:buFont typeface="Helvetica Neue"/>
                        <a:buNone/>
                      </a:pPr>
                      <a:r>
                        <a:rPr lang="en-US" sz="1300" dirty="0">
                          <a:latin typeface="Helvetica Neue"/>
                          <a:ea typeface="Helvetica Neue"/>
                          <a:cs typeface="Helvetica Neue"/>
                          <a:sym typeface="Helvetica Neue"/>
                        </a:rPr>
                        <a:t>26</a:t>
                      </a:r>
                      <a:r>
                        <a:rPr lang="en-US" sz="1300" b="0" i="0" dirty="0">
                          <a:latin typeface="Helvetica Neue"/>
                          <a:ea typeface="Helvetica Neue"/>
                          <a:cs typeface="Helvetica Neue"/>
                          <a:sym typeface="Helvetica Neue"/>
                        </a:rPr>
                        <a:t>/</a:t>
                      </a:r>
                      <a:r>
                        <a:rPr lang="en-US" sz="1300" dirty="0">
                          <a:latin typeface="Helvetica Neue"/>
                          <a:ea typeface="Helvetica Neue"/>
                          <a:cs typeface="Helvetica Neue"/>
                          <a:sym typeface="Helvetica Neue"/>
                        </a:rPr>
                        <a:t>09</a:t>
                      </a:r>
                      <a:r>
                        <a:rPr lang="en-US" sz="1300" b="0" i="0" dirty="0">
                          <a:latin typeface="Helvetica Neue"/>
                          <a:ea typeface="Helvetica Neue"/>
                          <a:cs typeface="Helvetica Neue"/>
                          <a:sym typeface="Helvetica Neue"/>
                        </a:rPr>
                        <a:t>/2025</a:t>
                      </a:r>
                      <a:endParaRPr dirty="0"/>
                    </a:p>
                  </a:txBody>
                  <a:tcPr marL="91450" marR="91450" marT="45725" marB="45725">
                    <a:solidFill>
                      <a:srgbClr val="F4F9ED"/>
                    </a:solidFill>
                  </a:tcPr>
                </a:tc>
                <a:tc>
                  <a:txBody>
                    <a:bodyPr/>
                    <a:lstStyle/>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Work on project presentation and report. </a:t>
                      </a:r>
                      <a:endParaRPr sz="1300">
                        <a:latin typeface="Helvetica Neue"/>
                        <a:ea typeface="Helvetica Neue"/>
                        <a:cs typeface="Helvetica Neue"/>
                        <a:sym typeface="Helvetica Neue"/>
                      </a:endParaRPr>
                    </a:p>
                    <a:p>
                      <a:pPr marL="171450" marR="0" lvl="0" indent="-171450" algn="l" rtl="0">
                        <a:spcBef>
                          <a:spcPts val="0"/>
                        </a:spcBef>
                        <a:spcAft>
                          <a:spcPts val="0"/>
                        </a:spcAft>
                        <a:buClr>
                          <a:schemeClr val="dk1"/>
                        </a:buClr>
                        <a:buSzPts val="1300"/>
                        <a:buFont typeface="Arial"/>
                        <a:buChar char="•"/>
                      </a:pPr>
                      <a:r>
                        <a:rPr lang="en-US" sz="1300">
                          <a:latin typeface="Helvetica Neue"/>
                          <a:ea typeface="Helvetica Neue"/>
                          <a:cs typeface="Helvetica Neue"/>
                          <a:sym typeface="Helvetica Neue"/>
                        </a:rPr>
                        <a:t>Explore datasets used for driver drowsiness detection..</a:t>
                      </a:r>
                      <a:endParaRPr sz="1300">
                        <a:latin typeface="Helvetica Neue"/>
                        <a:ea typeface="Helvetica Neue"/>
                        <a:cs typeface="Helvetica Neue"/>
                        <a:sym typeface="Helvetica Neue"/>
                      </a:endParaRPr>
                    </a:p>
                  </a:txBody>
                  <a:tcPr marL="91450" marR="91450" marT="45725" marB="45725">
                    <a:solidFill>
                      <a:srgbClr val="F4F9ED"/>
                    </a:solidFill>
                  </a:tcPr>
                </a:tc>
                <a:tc>
                  <a:txBody>
                    <a:bodyPr/>
                    <a:lstStyle/>
                    <a:p>
                      <a:pPr marL="0" marR="0" lvl="0" indent="0" algn="ctr" rtl="0">
                        <a:spcBef>
                          <a:spcPts val="0"/>
                        </a:spcBef>
                        <a:spcAft>
                          <a:spcPts val="0"/>
                        </a:spcAft>
                        <a:buClr>
                          <a:schemeClr val="dk1"/>
                        </a:buClr>
                        <a:buSzPts val="1300"/>
                        <a:buFont typeface="Arial"/>
                        <a:buNone/>
                      </a:pPr>
                      <a:r>
                        <a:rPr lang="en-US" sz="1300" dirty="0">
                          <a:latin typeface="Helvetica Neue"/>
                          <a:ea typeface="Helvetica Neue"/>
                          <a:cs typeface="Helvetica Neue"/>
                          <a:sym typeface="Helvetica Neue"/>
                        </a:rPr>
                        <a:t>Yes</a:t>
                      </a:r>
                      <a:endParaRPr sz="1300" b="0" i="0" dirty="0">
                        <a:latin typeface="Helvetica Neue"/>
                        <a:ea typeface="Helvetica Neue"/>
                        <a:cs typeface="Helvetica Neue"/>
                        <a:sym typeface="Helvetica Neue"/>
                      </a:endParaRPr>
                    </a:p>
                  </a:txBody>
                  <a:tcPr marL="91450" marR="91450" marT="45725" marB="45725">
                    <a:solidFill>
                      <a:srgbClr val="F4F9ED"/>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E7F-6D85-EBF6-EAD4-18BE8EC57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EF7BF-D279-302B-94BF-3DB4010A5811}"/>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a:t>
            </a:r>
            <a:r>
              <a:rPr lang="en-IN" sz="2400" dirty="0">
                <a:ea typeface="Palatino" pitchFamily="2" charset="77"/>
              </a:rPr>
              <a:t>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67675676-26F3-304D-6B9E-B3644390EFB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367900DB-DF9E-B5EC-0B92-06A7F2390E13}"/>
              </a:ext>
            </a:extLst>
          </p:cNvPr>
          <p:cNvGraphicFramePr>
            <a:graphicFrameLocks noGrp="1"/>
          </p:cNvGraphicFramePr>
          <p:nvPr>
            <p:extLst>
              <p:ext uri="{D42A27DB-BD31-4B8C-83A1-F6EECF244321}">
                <p14:modId xmlns:p14="http://schemas.microsoft.com/office/powerpoint/2010/main" val="3375232123"/>
              </p:ext>
            </p:extLst>
          </p:nvPr>
        </p:nvGraphicFramePr>
        <p:xfrm>
          <a:off x="110168" y="881350"/>
          <a:ext cx="8835528" cy="5319424"/>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580759">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a:solidFill>
                            <a:schemeClr val="tx1"/>
                          </a:solidFill>
                          <a:latin typeface="Helvetica" pitchFamily="2" charset="0"/>
                        </a:rPr>
                        <a:t>Duration</a:t>
                      </a:r>
                      <a:endParaRPr lang="en-US" sz="1300" b="0" i="0" dirty="0">
                        <a:solidFill>
                          <a:schemeClr val="tx1"/>
                        </a:solidFill>
                        <a:latin typeface="Helvetica" pitchFamily="2" charset="0"/>
                      </a:endParaRPr>
                    </a:p>
                  </a:txBody>
                  <a:tcPr>
                    <a:solidFill>
                      <a:schemeClr val="accent6">
                        <a:lumMod val="60000"/>
                        <a:lumOff val="40000"/>
                      </a:schemeClr>
                    </a:solidFill>
                  </a:tcPr>
                </a:tc>
                <a:tc>
                  <a:txBody>
                    <a:bodyPr/>
                    <a:lstStyle/>
                    <a:p>
                      <a:pPr algn="ctr"/>
                      <a:r>
                        <a:rPr lang="en-US" sz="1300" b="0" i="0">
                          <a:solidFill>
                            <a:schemeClr val="tx1"/>
                          </a:solidFill>
                          <a:latin typeface="Helvetica" pitchFamily="2" charset="0"/>
                        </a:rPr>
                        <a:t>Remarks (</a:t>
                      </a:r>
                      <a:r>
                        <a:rPr lang="en-US" sz="1300" b="1" i="0">
                          <a:solidFill>
                            <a:schemeClr val="tx1"/>
                          </a:solidFill>
                          <a:latin typeface="Helvetica" pitchFamily="2" charset="0"/>
                        </a:rPr>
                        <a:t>as mentioned in the weekly log</a:t>
                      </a:r>
                      <a:r>
                        <a:rPr lang="en-US" sz="1300" b="0" i="0">
                          <a:solidFill>
                            <a:schemeClr val="tx1"/>
                          </a:solidFill>
                          <a:latin typeface="Helvetica" pitchFamily="2" charset="0"/>
                        </a:rPr>
                        <a:t>)</a:t>
                      </a:r>
                      <a:endParaRPr lang="en-US" sz="1300" b="0" i="0" dirty="0">
                        <a:solidFill>
                          <a:schemeClr val="tx1"/>
                        </a:solidFill>
                        <a:latin typeface="Helvetica" pitchFamily="2" charset="0"/>
                      </a:endParaRP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947733">
                <a:tc>
                  <a:txBody>
                    <a:bodyPr/>
                    <a:lstStyle/>
                    <a:p>
                      <a:pPr algn="ctr"/>
                      <a:r>
                        <a:rPr lang="en-US" sz="1300" b="0" i="0">
                          <a:latin typeface="Helvetica" pitchFamily="2" charset="0"/>
                        </a:rPr>
                        <a:t>6.</a:t>
                      </a:r>
                      <a:endParaRPr lang="en-US" sz="1300" b="0" i="0" dirty="0">
                        <a:latin typeface="Helvetica" pitchFamily="2" charset="0"/>
                      </a:endParaRPr>
                    </a:p>
                  </a:txBody>
                  <a:tcPr>
                    <a:solidFill>
                      <a:schemeClr val="accent5">
                        <a:lumMod val="20000"/>
                        <a:lumOff val="80000"/>
                      </a:schemeClr>
                    </a:solidFill>
                  </a:tcPr>
                </a:tc>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27/</a:t>
                      </a:r>
                      <a:r>
                        <a:rPr lang="en-US" sz="1300">
                          <a:latin typeface="Helvetica Neue"/>
                          <a:ea typeface="Helvetica Neue"/>
                          <a:cs typeface="Helvetica Neue"/>
                          <a:sym typeface="Helvetica Neue"/>
                        </a:rPr>
                        <a:t>09</a:t>
                      </a:r>
                      <a:r>
                        <a:rPr lang="en-US" sz="1300" b="0" i="0">
                          <a:latin typeface="Helvetica Neue"/>
                          <a:ea typeface="Helvetica Neue"/>
                          <a:cs typeface="Helvetica Neue"/>
                          <a:sym typeface="Helvetica Neue"/>
                        </a:rPr>
                        <a:t>/2025 </a:t>
                      </a:r>
                      <a:endParaRPr lang="en-US" sz="1200"/>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lang="en-US" sz="1200"/>
                    </a:p>
                    <a:p>
                      <a:pPr marL="0" marR="0" lvl="0" indent="0" algn="ctr" rtl="0">
                        <a:lnSpc>
                          <a:spcPct val="100000"/>
                        </a:lnSpc>
                        <a:spcBef>
                          <a:spcPts val="0"/>
                        </a:spcBef>
                        <a:spcAft>
                          <a:spcPts val="0"/>
                        </a:spcAft>
                        <a:buClr>
                          <a:schemeClr val="dk1"/>
                        </a:buClr>
                        <a:buSzPts val="1300"/>
                        <a:buFont typeface="Helvetica Neue"/>
                        <a:buNone/>
                      </a:pPr>
                      <a:r>
                        <a:rPr lang="en-US" sz="1300" b="0" i="0">
                          <a:latin typeface="Helvetica Neue"/>
                          <a:ea typeface="Helvetica Neue"/>
                          <a:cs typeface="Helvetica Neue"/>
                          <a:sym typeface="Helvetica Neue"/>
                        </a:rPr>
                        <a:t>01/10/2025</a:t>
                      </a:r>
                      <a:endParaRPr lang="en-US" sz="1200" dirty="0"/>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a:latin typeface="Helvetica" pitchFamily="2" charset="0"/>
                        </a:rPr>
                        <a:t>Final Presentation Rehearsal.</a:t>
                      </a: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440570599"/>
                  </a:ext>
                </a:extLst>
              </a:tr>
              <a:tr h="947733">
                <a:tc>
                  <a:txBody>
                    <a:bodyPr/>
                    <a:lstStyle/>
                    <a:p>
                      <a:pPr algn="ctr"/>
                      <a:r>
                        <a:rPr lang="en-US" sz="1300" b="0" i="0">
                          <a:latin typeface="Helvetica" pitchFamily="2" charset="0"/>
                        </a:rPr>
                        <a:t>7.</a:t>
                      </a:r>
                      <a:endParaRPr lang="en-US" sz="1300" b="0" i="0" dirty="0">
                        <a:latin typeface="Helvetica" pitchFamily="2"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a:latin typeface="Helvetica Neue"/>
                          <a:ea typeface="Helvetica Neue"/>
                          <a:cs typeface="Helvetica Neue"/>
                          <a:sym typeface="Helvetica Neue"/>
                        </a:rPr>
                        <a:t>02/10/2025 </a:t>
                      </a:r>
                      <a:endParaRPr lang="en-US" sz="1200"/>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lang="en-US" sz="1200"/>
                    </a:p>
                    <a:p>
                      <a:pPr marL="0" marR="0" lvl="0" indent="0" algn="ctr" rtl="0">
                        <a:lnSpc>
                          <a:spcPct val="100000"/>
                        </a:lnSpc>
                        <a:spcBef>
                          <a:spcPts val="0"/>
                        </a:spcBef>
                        <a:spcAft>
                          <a:spcPts val="0"/>
                        </a:spcAft>
                        <a:buClr>
                          <a:schemeClr val="dk1"/>
                        </a:buClr>
                        <a:buSzPts val="1300"/>
                        <a:buFont typeface="Helvetica Neue"/>
                        <a:buNone/>
                      </a:pPr>
                      <a:r>
                        <a:rPr lang="en-US" sz="1300" b="0" i="0">
                          <a:latin typeface="Helvetica Neue"/>
                          <a:ea typeface="Helvetica Neue"/>
                          <a:cs typeface="Helvetica Neue"/>
                          <a:sym typeface="Helvetica Neue"/>
                        </a:rPr>
                        <a:t>08/10/2025</a:t>
                      </a:r>
                      <a:endParaRPr lang="en-US" sz="1200"/>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0" i="0" dirty="0">
                        <a:latin typeface="Helvetica" pitchFamily="2" charset="0"/>
                      </a:endParaRP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a:latin typeface="Helvetica" pitchFamily="2" charset="0"/>
                        </a:rPr>
                        <a:t>Analyzed the dataset and its features.</a:t>
                      </a:r>
                    </a:p>
                    <a:p>
                      <a:pPr marL="171450" indent="-171450">
                        <a:buFont typeface="Arial" panose="020B0604020202020204" pitchFamily="34" charset="0"/>
                        <a:buChar char="•"/>
                      </a:pPr>
                      <a:r>
                        <a:rPr lang="en-US" sz="1300" b="0" i="0">
                          <a:latin typeface="Helvetica" pitchFamily="2" charset="0"/>
                        </a:rPr>
                        <a:t>Finalized the data and the tool we will use for the pipeline.</a:t>
                      </a:r>
                    </a:p>
                    <a:p>
                      <a:pPr marL="171450" indent="-171450">
                        <a:buFont typeface="Arial" panose="020B0604020202020204" pitchFamily="34" charset="0"/>
                        <a:buChar char="•"/>
                      </a:pPr>
                      <a:endParaRPr lang="en-US" sz="1300" b="0" i="0" dirty="0">
                        <a:latin typeface="Helvetica" pitchFamily="2"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947733">
                <a:tc>
                  <a:txBody>
                    <a:bodyPr/>
                    <a:lstStyle/>
                    <a:p>
                      <a:pPr algn="ctr"/>
                      <a:r>
                        <a:rPr lang="en-US" sz="1300" b="0" i="0">
                          <a:latin typeface="Helvetica" pitchFamily="2" charset="0"/>
                        </a:rPr>
                        <a:t>8.</a:t>
                      </a:r>
                      <a:endParaRPr lang="en-US" sz="1300" b="0" i="0" dirty="0">
                        <a:latin typeface="Helvetica" pitchFamily="2" charset="0"/>
                      </a:endParaRPr>
                    </a:p>
                  </a:txBody>
                  <a:tcPr>
                    <a:solidFill>
                      <a:schemeClr val="accent5">
                        <a:lumMod val="20000"/>
                        <a:lumOff val="80000"/>
                      </a:schemeClr>
                    </a:solidFill>
                  </a:tcPr>
                </a:tc>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09/10/2025 </a:t>
                      </a:r>
                      <a:endParaRPr lang="en-US" sz="1200"/>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lang="en-US" sz="1200"/>
                    </a:p>
                    <a:p>
                      <a:pPr marL="0" marR="0" lvl="0" indent="0" algn="ctr" rtl="0">
                        <a:lnSpc>
                          <a:spcPct val="100000"/>
                        </a:lnSpc>
                        <a:spcBef>
                          <a:spcPts val="0"/>
                        </a:spcBef>
                        <a:spcAft>
                          <a:spcPts val="0"/>
                        </a:spcAft>
                        <a:buClr>
                          <a:schemeClr val="dk1"/>
                        </a:buClr>
                        <a:buSzPts val="1300"/>
                        <a:buFont typeface="Helvetica Neue"/>
                        <a:buNone/>
                      </a:pPr>
                      <a:r>
                        <a:rPr lang="en-US" sz="1300" b="0" i="0">
                          <a:latin typeface="Helvetica Neue"/>
                          <a:ea typeface="Helvetica Neue"/>
                          <a:cs typeface="Helvetica Neue"/>
                          <a:sym typeface="Helvetica Neue"/>
                        </a:rPr>
                        <a:t>03/11/2025</a:t>
                      </a:r>
                      <a:endParaRPr lang="en-US" sz="1200" dirty="0"/>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a:latin typeface="Helvetica" pitchFamily="2" charset="0"/>
                        </a:rPr>
                        <a:t>Finalized selection of suitable eye state datasets for drowsiness detection.</a:t>
                      </a:r>
                    </a:p>
                    <a:p>
                      <a:pPr marL="171450" indent="-171450">
                        <a:buFont typeface="Arial" panose="020B0604020202020204" pitchFamily="34" charset="0"/>
                        <a:buChar char="•"/>
                      </a:pPr>
                      <a:r>
                        <a:rPr lang="en-US" sz="1300" b="0" i="0">
                          <a:latin typeface="Helvetica" pitchFamily="2" charset="0"/>
                        </a:rPr>
                        <a:t>Review dataset structures available on Kaggle</a:t>
                      </a: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646395450"/>
                  </a:ext>
                </a:extLst>
              </a:tr>
              <a:tr h="947733">
                <a:tc>
                  <a:txBody>
                    <a:bodyPr/>
                    <a:lstStyle/>
                    <a:p>
                      <a:pPr algn="ctr"/>
                      <a:r>
                        <a:rPr lang="en-US" sz="1300" b="0" i="0">
                          <a:latin typeface="Helvetica" pitchFamily="2" charset="0"/>
                        </a:rPr>
                        <a:t>9.</a:t>
                      </a:r>
                      <a:endParaRPr lang="en-US" sz="1300" b="0" i="0" dirty="0">
                        <a:latin typeface="Helvetica" pitchFamily="2" charset="0"/>
                      </a:endParaRPr>
                    </a:p>
                  </a:txBody>
                  <a:tcPr>
                    <a:solidFill>
                      <a:schemeClr val="accent6">
                        <a:lumMod val="20000"/>
                        <a:lumOff val="80000"/>
                      </a:schemeClr>
                    </a:solidFill>
                  </a:tcPr>
                </a:tc>
                <a:tc>
                  <a:txBody>
                    <a:bodyPr/>
                    <a:lstStyle/>
                    <a:p>
                      <a:pPr marL="0" marR="0" lvl="0" indent="0" algn="ctr" rtl="0">
                        <a:spcBef>
                          <a:spcPts val="0"/>
                        </a:spcBef>
                        <a:spcAft>
                          <a:spcPts val="0"/>
                        </a:spcAft>
                        <a:buNone/>
                      </a:pPr>
                      <a:r>
                        <a:rPr lang="en-US" sz="1300">
                          <a:latin typeface="Helvetica Neue"/>
                          <a:ea typeface="Helvetica Neue"/>
                          <a:cs typeface="Helvetica Neue"/>
                          <a:sym typeface="Helvetica Neue"/>
                        </a:rPr>
                        <a:t>03</a:t>
                      </a:r>
                      <a:r>
                        <a:rPr lang="en-US" sz="1300" b="0" i="0">
                          <a:latin typeface="Helvetica Neue"/>
                          <a:ea typeface="Helvetica Neue"/>
                          <a:cs typeface="Helvetica Neue"/>
                          <a:sym typeface="Helvetica Neue"/>
                        </a:rPr>
                        <a:t>/11/2025 </a:t>
                      </a:r>
                      <a:endParaRPr lang="en-US" sz="1200"/>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lang="en-US" sz="1200"/>
                    </a:p>
                    <a:p>
                      <a:pPr marL="0" marR="0" lvl="0" indent="0" algn="ctr" rtl="0">
                        <a:lnSpc>
                          <a:spcPct val="100000"/>
                        </a:lnSpc>
                        <a:spcBef>
                          <a:spcPts val="0"/>
                        </a:spcBef>
                        <a:spcAft>
                          <a:spcPts val="0"/>
                        </a:spcAft>
                        <a:buClr>
                          <a:schemeClr val="dk1"/>
                        </a:buClr>
                        <a:buSzPts val="1300"/>
                        <a:buFont typeface="Helvetica Neue"/>
                        <a:buNone/>
                      </a:pPr>
                      <a:r>
                        <a:rPr lang="en-US" sz="1300" b="0" i="0">
                          <a:latin typeface="Helvetica Neue"/>
                          <a:ea typeface="Helvetica Neue"/>
                          <a:cs typeface="Helvetica Neue"/>
                          <a:sym typeface="Helvetica Neue"/>
                        </a:rPr>
                        <a:t>07/11/2025</a:t>
                      </a:r>
                      <a:endParaRPr lang="en-US" sz="1200" dirty="0"/>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Dataset Downloaded.</a:t>
                      </a:r>
                    </a:p>
                    <a:p>
                      <a:pPr marL="171450" indent="-171450">
                        <a:buFont typeface="Arial" panose="020B0604020202020204" pitchFamily="34" charset="0"/>
                        <a:buChar char="•"/>
                      </a:pPr>
                      <a:r>
                        <a:rPr lang="en-US" sz="1300" b="0" i="0" dirty="0">
                          <a:latin typeface="Helvetica" pitchFamily="2" charset="0"/>
                        </a:rPr>
                        <a:t>Data exploration and analysis initiated.</a:t>
                      </a:r>
                    </a:p>
                    <a:p>
                      <a:pPr marL="0" indent="0">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3451082333"/>
                  </a:ext>
                </a:extLst>
              </a:tr>
              <a:tr h="947733">
                <a:tc>
                  <a:txBody>
                    <a:bodyPr/>
                    <a:lstStyle/>
                    <a:p>
                      <a:pPr algn="ctr"/>
                      <a:r>
                        <a:rPr lang="en-US" sz="1300" b="0" i="0">
                          <a:latin typeface="Helvetica" pitchFamily="2" charset="0"/>
                        </a:rPr>
                        <a:t>10.</a:t>
                      </a:r>
                      <a:endParaRPr lang="en-US" sz="1300" b="0" i="0" dirty="0">
                        <a:latin typeface="Helvetica" pitchFamily="2" charset="0"/>
                      </a:endParaRPr>
                    </a:p>
                  </a:txBody>
                  <a:tcPr>
                    <a:solidFill>
                      <a:schemeClr val="accent5">
                        <a:lumMod val="20000"/>
                        <a:lumOff val="80000"/>
                      </a:schemeClr>
                    </a:solidFill>
                  </a:tcPr>
                </a:tc>
                <a:tc>
                  <a:txBody>
                    <a:bodyPr/>
                    <a:lstStyle/>
                    <a:p>
                      <a:pPr marL="0" marR="0" lvl="0" indent="0" algn="ctr" rtl="0">
                        <a:spcBef>
                          <a:spcPts val="0"/>
                        </a:spcBef>
                        <a:spcAft>
                          <a:spcPts val="0"/>
                        </a:spcAft>
                        <a:buNone/>
                      </a:pPr>
                      <a:r>
                        <a:rPr lang="en-US" sz="1300" b="0" i="0">
                          <a:latin typeface="Helvetica Neue"/>
                          <a:ea typeface="Helvetica Neue"/>
                          <a:cs typeface="Helvetica Neue"/>
                          <a:sym typeface="Helvetica Neue"/>
                        </a:rPr>
                        <a:t>07/11/2025 </a:t>
                      </a:r>
                      <a:endParaRPr lang="en-US" sz="1200"/>
                    </a:p>
                    <a:p>
                      <a:pPr marL="0" marR="0" lvl="0" indent="0" algn="ctr" rtl="0">
                        <a:spcBef>
                          <a:spcPts val="0"/>
                        </a:spcBef>
                        <a:spcAft>
                          <a:spcPts val="0"/>
                        </a:spcAft>
                        <a:buNone/>
                      </a:pPr>
                      <a:r>
                        <a:rPr lang="en-US" sz="1300" b="0" i="0">
                          <a:latin typeface="Helvetica Neue"/>
                          <a:ea typeface="Helvetica Neue"/>
                          <a:cs typeface="Helvetica Neue"/>
                          <a:sym typeface="Helvetica Neue"/>
                        </a:rPr>
                        <a:t>to</a:t>
                      </a:r>
                      <a:endParaRPr lang="en-US" sz="1200"/>
                    </a:p>
                    <a:p>
                      <a:pPr marL="0" marR="0" lvl="0" indent="0" algn="ctr" rtl="0">
                        <a:lnSpc>
                          <a:spcPct val="100000"/>
                        </a:lnSpc>
                        <a:spcBef>
                          <a:spcPts val="0"/>
                        </a:spcBef>
                        <a:spcAft>
                          <a:spcPts val="0"/>
                        </a:spcAft>
                        <a:buClr>
                          <a:schemeClr val="dk1"/>
                        </a:buClr>
                        <a:buSzPts val="1300"/>
                        <a:buFont typeface="Helvetica Neue"/>
                        <a:buNone/>
                      </a:pPr>
                      <a:r>
                        <a:rPr lang="en-US" sz="1300" b="0" i="0">
                          <a:latin typeface="Helvetica Neue"/>
                          <a:ea typeface="Helvetica Neue"/>
                          <a:cs typeface="Helvetica Neue"/>
                          <a:sym typeface="Helvetica Neue"/>
                        </a:rPr>
                        <a:t>10/11/2025</a:t>
                      </a:r>
                      <a:endParaRPr lang="en-US" sz="1200" dirty="0"/>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Organize dataset directories, applied initial augmentations.</a:t>
                      </a:r>
                    </a:p>
                    <a:p>
                      <a:pPr marL="171450" indent="-171450">
                        <a:buFont typeface="Arial" panose="020B0604020202020204" pitchFamily="34" charset="0"/>
                        <a:buChar char="•"/>
                      </a:pPr>
                      <a:r>
                        <a:rPr lang="en-US" sz="1300" b="0" i="0" dirty="0">
                          <a:latin typeface="Helvetica" pitchFamily="2" charset="0"/>
                        </a:rPr>
                        <a:t>Separated the dataset into well labelled ‘open’ and ‘closed’ eye directories for both train and test folder.</a:t>
                      </a: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1300" b="0" i="0" dirty="0">
                          <a:latin typeface="Helvetica" pitchFamily="2" charset="0"/>
                        </a:rPr>
                        <a:t>Yes</a:t>
                      </a:r>
                    </a:p>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1072130321"/>
                  </a:ext>
                </a:extLst>
              </a:tr>
            </a:tbl>
          </a:graphicData>
        </a:graphic>
      </p:graphicFrame>
    </p:spTree>
    <p:extLst>
      <p:ext uri="{BB962C8B-B14F-4D97-AF65-F5344CB8AC3E}">
        <p14:creationId xmlns:p14="http://schemas.microsoft.com/office/powerpoint/2010/main" val="1884040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DD5D-AEE8-9E70-52B8-4F2DA4E99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1C713-74CA-0740-DE9E-3D289B1C0410}"/>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a:t>
            </a:r>
            <a:r>
              <a:rPr lang="en-IN" sz="2400" dirty="0">
                <a:ea typeface="Palatino" pitchFamily="2" charset="77"/>
              </a:rPr>
              <a:t>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2A170ED7-7749-5554-13DE-883556431871}"/>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D629A577-FFB3-DC44-485A-5071A1A873A5}"/>
              </a:ext>
            </a:extLst>
          </p:cNvPr>
          <p:cNvGraphicFramePr>
            <a:graphicFrameLocks noGrp="1"/>
          </p:cNvGraphicFramePr>
          <p:nvPr>
            <p:extLst>
              <p:ext uri="{D42A27DB-BD31-4B8C-83A1-F6EECF244321}">
                <p14:modId xmlns:p14="http://schemas.microsoft.com/office/powerpoint/2010/main" val="9184552"/>
              </p:ext>
            </p:extLst>
          </p:nvPr>
        </p:nvGraphicFramePr>
        <p:xfrm>
          <a:off x="110168" y="881350"/>
          <a:ext cx="8835528" cy="5319424"/>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580759">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947733">
                <a:tc>
                  <a:txBody>
                    <a:bodyPr/>
                    <a:lstStyle/>
                    <a:p>
                      <a:pPr algn="ctr"/>
                      <a:r>
                        <a:rPr lang="en-US" sz="1300" b="0" i="0" dirty="0">
                          <a:latin typeface="Helvetica" pitchFamily="2" charset="0"/>
                        </a:rPr>
                        <a:t>11.</a:t>
                      </a:r>
                    </a:p>
                  </a:txBody>
                  <a:tcPr>
                    <a:solidFill>
                      <a:schemeClr val="accent5">
                        <a:lumMod val="20000"/>
                        <a:lumOff val="80000"/>
                      </a:schemeClr>
                    </a:solidFill>
                  </a:tcPr>
                </a:tc>
                <a:tc>
                  <a:txBody>
                    <a:bodyPr/>
                    <a:lstStyle/>
                    <a:p>
                      <a:pPr marL="0" marR="0" lvl="0" indent="0" algn="ctr" rtl="0">
                        <a:spcBef>
                          <a:spcPts val="0"/>
                        </a:spcBef>
                        <a:spcAft>
                          <a:spcPts val="0"/>
                        </a:spcAft>
                        <a:buNone/>
                      </a:pPr>
                      <a:r>
                        <a:rPr lang="en-US" sz="1300" b="0" i="0" dirty="0">
                          <a:latin typeface="Helvetica Neue"/>
                          <a:ea typeface="Helvetica Neue"/>
                          <a:cs typeface="Helvetica Neue"/>
                          <a:sym typeface="Helvetica Neue"/>
                        </a:rPr>
                        <a:t>10/11/2025 </a:t>
                      </a:r>
                      <a:endParaRPr lang="en-US" sz="1200" dirty="0"/>
                    </a:p>
                    <a:p>
                      <a:pPr marL="0" marR="0" lvl="0" indent="0" algn="ctr" rtl="0">
                        <a:spcBef>
                          <a:spcPts val="0"/>
                        </a:spcBef>
                        <a:spcAft>
                          <a:spcPts val="0"/>
                        </a:spcAft>
                        <a:buNone/>
                      </a:pPr>
                      <a:r>
                        <a:rPr lang="en-US" sz="1300" b="0" i="0" dirty="0">
                          <a:latin typeface="Helvetica Neue"/>
                          <a:ea typeface="Helvetica Neue"/>
                          <a:cs typeface="Helvetica Neue"/>
                          <a:sym typeface="Helvetica Neue"/>
                        </a:rPr>
                        <a:t>to</a:t>
                      </a:r>
                      <a:endParaRPr lang="en-US" sz="1200" dirty="0"/>
                    </a:p>
                    <a:p>
                      <a:pPr marL="0" marR="0" lvl="0" indent="0" algn="ctr" rtl="0">
                        <a:lnSpc>
                          <a:spcPct val="100000"/>
                        </a:lnSpc>
                        <a:spcBef>
                          <a:spcPts val="0"/>
                        </a:spcBef>
                        <a:spcAft>
                          <a:spcPts val="0"/>
                        </a:spcAft>
                        <a:buClr>
                          <a:schemeClr val="dk1"/>
                        </a:buClr>
                        <a:buSzPts val="1300"/>
                        <a:buFont typeface="Helvetica Neue"/>
                        <a:buNone/>
                      </a:pPr>
                      <a:r>
                        <a:rPr lang="en-US" sz="1300" b="0" i="0" dirty="0">
                          <a:latin typeface="Helvetica Neue"/>
                          <a:ea typeface="Helvetica Neue"/>
                          <a:cs typeface="Helvetica Neue"/>
                          <a:sym typeface="Helvetica Neue"/>
                        </a:rPr>
                        <a:t>12/11/2025</a:t>
                      </a:r>
                      <a:endParaRPr lang="en-US" sz="1200" dirty="0"/>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Created model.py that uses </a:t>
                      </a:r>
                      <a:r>
                        <a:rPr lang="en-US" sz="1300" b="0" i="0" dirty="0" err="1">
                          <a:latin typeface="Helvetica" pitchFamily="2" charset="0"/>
                        </a:rPr>
                        <a:t>Keras</a:t>
                      </a:r>
                      <a:r>
                        <a:rPr lang="en-US" sz="1300" b="0" i="0" dirty="0">
                          <a:latin typeface="Helvetica" pitchFamily="2" charset="0"/>
                        </a:rPr>
                        <a:t> ‘Image Generation’ to load data , defines a sequential CNN.</a:t>
                      </a:r>
                    </a:p>
                    <a:p>
                      <a:pPr marL="171450" indent="-171450">
                        <a:buFont typeface="Arial" panose="020B0604020202020204" pitchFamily="34" charset="0"/>
                        <a:buChar char="•"/>
                      </a:pPr>
                      <a:r>
                        <a:rPr lang="en-US" sz="1300" b="0" i="0" dirty="0">
                          <a:latin typeface="Helvetica" pitchFamily="2" charset="0"/>
                        </a:rPr>
                        <a:t>Decided a greyscale input with target size 24X24 , batch size 32 , and categorial labels.</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440570599"/>
                  </a:ext>
                </a:extLst>
              </a:tr>
              <a:tr h="947733">
                <a:tc>
                  <a:txBody>
                    <a:bodyPr/>
                    <a:lstStyle/>
                    <a:p>
                      <a:pPr algn="ctr"/>
                      <a:r>
                        <a:rPr lang="en-US" sz="1300" b="0" i="0" dirty="0">
                          <a:latin typeface="Helvetica" pitchFamily="2" charset="0"/>
                        </a:rPr>
                        <a:t>12.</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dirty="0">
                          <a:latin typeface="Helvetica Neue"/>
                          <a:ea typeface="Helvetica Neue"/>
                          <a:cs typeface="Helvetica Neue"/>
                          <a:sym typeface="Helvetica Neue"/>
                        </a:rPr>
                        <a:t>12/11/2025 </a:t>
                      </a:r>
                      <a:endParaRPr lang="en-US" sz="1200" dirty="0"/>
                    </a:p>
                    <a:p>
                      <a:pPr marL="0" marR="0" lvl="0" indent="0" algn="ctr" rtl="0">
                        <a:spcBef>
                          <a:spcPts val="0"/>
                        </a:spcBef>
                        <a:spcAft>
                          <a:spcPts val="0"/>
                        </a:spcAft>
                        <a:buNone/>
                      </a:pPr>
                      <a:r>
                        <a:rPr lang="en-US" sz="1300" b="0" i="0" dirty="0">
                          <a:latin typeface="Helvetica Neue"/>
                          <a:ea typeface="Helvetica Neue"/>
                          <a:cs typeface="Helvetica Neue"/>
                          <a:sym typeface="Helvetica Neue"/>
                        </a:rPr>
                        <a:t>to</a:t>
                      </a:r>
                      <a:endParaRPr lang="en-US" sz="1200" dirty="0"/>
                    </a:p>
                    <a:p>
                      <a:pPr marL="0" marR="0" lvl="0" indent="0" algn="ctr" rtl="0">
                        <a:lnSpc>
                          <a:spcPct val="100000"/>
                        </a:lnSpc>
                        <a:spcBef>
                          <a:spcPts val="0"/>
                        </a:spcBef>
                        <a:spcAft>
                          <a:spcPts val="0"/>
                        </a:spcAft>
                        <a:buClr>
                          <a:schemeClr val="dk1"/>
                        </a:buClr>
                        <a:buSzPts val="1300"/>
                        <a:buFont typeface="Helvetica Neue"/>
                        <a:buNone/>
                      </a:pPr>
                      <a:r>
                        <a:rPr lang="en-US" sz="1300" b="0" i="0" dirty="0">
                          <a:latin typeface="Helvetica Neue"/>
                          <a:ea typeface="Helvetica Neue"/>
                          <a:cs typeface="Helvetica Neue"/>
                          <a:sym typeface="Helvetica Neue"/>
                        </a:rPr>
                        <a:t>15/11/2025</a:t>
                      </a:r>
                      <a:endParaRPr lang="en-US" sz="1200" dirty="0"/>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0" i="0" dirty="0">
                        <a:latin typeface="Helvetica" pitchFamily="2" charset="0"/>
                      </a:endParaRP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Implemented a small CNN.</a:t>
                      </a:r>
                    </a:p>
                    <a:p>
                      <a:pPr marL="171450" indent="-171450">
                        <a:buFont typeface="Arial" panose="020B0604020202020204" pitchFamily="34" charset="0"/>
                        <a:buChar char="•"/>
                      </a:pPr>
                      <a:r>
                        <a:rPr lang="en-US" sz="1300" b="0" i="0" dirty="0">
                          <a:latin typeface="Helvetica" pitchFamily="2" charset="0"/>
                        </a:rPr>
                        <a:t>Trained a first run for 15 epochs.</a:t>
                      </a:r>
                    </a:p>
                    <a:p>
                      <a:pPr marL="171450" indent="-171450">
                        <a:buFont typeface="Arial" panose="020B0604020202020204" pitchFamily="34" charset="0"/>
                        <a:buChar char="•"/>
                      </a:pPr>
                      <a:r>
                        <a:rPr lang="en-US" sz="1300" b="0" i="0" dirty="0">
                          <a:latin typeface="Helvetica" pitchFamily="2" charset="0"/>
                        </a:rPr>
                        <a:t>Logged training/validation accuracy.</a:t>
                      </a:r>
                    </a:p>
                  </a:txBody>
                  <a:tcPr>
                    <a:solidFill>
                      <a:schemeClr val="accent6">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r h="947733">
                <a:tc>
                  <a:txBody>
                    <a:bodyPr/>
                    <a:lstStyle/>
                    <a:p>
                      <a:pPr algn="ctr"/>
                      <a:r>
                        <a:rPr lang="en-US" sz="1300" b="0" i="0" dirty="0">
                          <a:latin typeface="Helvetica" pitchFamily="2" charset="0"/>
                        </a:rPr>
                        <a:t>13.</a:t>
                      </a:r>
                    </a:p>
                  </a:txBody>
                  <a:tcPr>
                    <a:solidFill>
                      <a:schemeClr val="accent5">
                        <a:lumMod val="20000"/>
                        <a:lumOff val="80000"/>
                      </a:schemeClr>
                    </a:solidFill>
                  </a:tcPr>
                </a:tc>
                <a:tc>
                  <a:txBody>
                    <a:bodyPr/>
                    <a:lstStyle/>
                    <a:p>
                      <a:pPr marL="0" marR="0" lvl="0" indent="0" algn="ctr" rtl="0">
                        <a:spcBef>
                          <a:spcPts val="0"/>
                        </a:spcBef>
                        <a:spcAft>
                          <a:spcPts val="0"/>
                        </a:spcAft>
                        <a:buNone/>
                      </a:pPr>
                      <a:r>
                        <a:rPr lang="en-US" sz="1300" b="0" i="0" dirty="0">
                          <a:latin typeface="Helvetica Neue"/>
                          <a:ea typeface="Helvetica Neue"/>
                          <a:cs typeface="Helvetica Neue"/>
                          <a:sym typeface="Helvetica Neue"/>
                        </a:rPr>
                        <a:t>15/11/2025 </a:t>
                      </a:r>
                      <a:endParaRPr lang="en-US" sz="1200" dirty="0"/>
                    </a:p>
                    <a:p>
                      <a:pPr marL="0" marR="0" lvl="0" indent="0" algn="ctr" rtl="0">
                        <a:spcBef>
                          <a:spcPts val="0"/>
                        </a:spcBef>
                        <a:spcAft>
                          <a:spcPts val="0"/>
                        </a:spcAft>
                        <a:buNone/>
                      </a:pPr>
                      <a:r>
                        <a:rPr lang="en-US" sz="1300" b="0" i="0" dirty="0">
                          <a:latin typeface="Helvetica Neue"/>
                          <a:ea typeface="Helvetica Neue"/>
                          <a:cs typeface="Helvetica Neue"/>
                          <a:sym typeface="Helvetica Neue"/>
                        </a:rPr>
                        <a:t>to</a:t>
                      </a:r>
                      <a:endParaRPr lang="en-US" sz="1200" dirty="0"/>
                    </a:p>
                    <a:p>
                      <a:pPr marL="0" marR="0" lvl="0" indent="0" algn="ctr" rtl="0">
                        <a:lnSpc>
                          <a:spcPct val="100000"/>
                        </a:lnSpc>
                        <a:spcBef>
                          <a:spcPts val="0"/>
                        </a:spcBef>
                        <a:spcAft>
                          <a:spcPts val="0"/>
                        </a:spcAft>
                        <a:buClr>
                          <a:schemeClr val="dk1"/>
                        </a:buClr>
                        <a:buSzPts val="1300"/>
                        <a:buFont typeface="Helvetica Neue"/>
                        <a:buNone/>
                      </a:pPr>
                      <a:r>
                        <a:rPr lang="en-US" sz="1300" b="0" i="0" dirty="0">
                          <a:latin typeface="Helvetica Neue"/>
                          <a:ea typeface="Helvetica Neue"/>
                          <a:cs typeface="Helvetica Neue"/>
                          <a:sym typeface="Helvetica Neue"/>
                        </a:rPr>
                        <a:t>18/11/2025</a:t>
                      </a:r>
                      <a:endParaRPr lang="en-US" sz="1200" dirty="0"/>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Created a drowsiness_detection.py.</a:t>
                      </a:r>
                    </a:p>
                    <a:p>
                      <a:pPr marL="171450" indent="-171450">
                        <a:buFont typeface="Arial" panose="020B0604020202020204" pitchFamily="34" charset="0"/>
                        <a:buChar char="•"/>
                      </a:pPr>
                      <a:r>
                        <a:rPr lang="en-US" sz="1300" b="0" i="0" dirty="0">
                          <a:latin typeface="Helvetica" pitchFamily="2" charset="0"/>
                        </a:rPr>
                        <a:t>Made use of OpenCV</a:t>
                      </a:r>
                    </a:p>
                    <a:p>
                      <a:pPr marL="171450" indent="-171450">
                        <a:buFont typeface="Arial" panose="020B0604020202020204" pitchFamily="34" charset="0"/>
                        <a:buChar char="•"/>
                      </a:pPr>
                      <a:r>
                        <a:rPr lang="en-US" sz="1300" b="0" i="0" dirty="0">
                          <a:latin typeface="Helvetica" pitchFamily="2" charset="0"/>
                        </a:rPr>
                        <a:t>Integrated ‘</a:t>
                      </a:r>
                      <a:r>
                        <a:rPr lang="en-US" sz="1300" b="0" i="0" dirty="0" err="1">
                          <a:latin typeface="Helvetica" pitchFamily="2" charset="0"/>
                        </a:rPr>
                        <a:t>pygame.mixer</a:t>
                      </a:r>
                      <a:r>
                        <a:rPr lang="en-US" sz="1300" b="0" i="0" dirty="0">
                          <a:latin typeface="Helvetica" pitchFamily="2" charset="0"/>
                        </a:rPr>
                        <a:t>’</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3646395450"/>
                  </a:ext>
                </a:extLst>
              </a:tr>
              <a:tr h="947733">
                <a:tc>
                  <a:txBody>
                    <a:bodyPr/>
                    <a:lstStyle/>
                    <a:p>
                      <a:pPr algn="ctr"/>
                      <a:r>
                        <a:rPr lang="en-US" sz="1300" b="0" i="0" dirty="0">
                          <a:latin typeface="Helvetica" pitchFamily="2" charset="0"/>
                        </a:rPr>
                        <a:t>14.</a:t>
                      </a:r>
                    </a:p>
                  </a:txBody>
                  <a:tcPr>
                    <a:solidFill>
                      <a:schemeClr val="accent6">
                        <a:lumMod val="20000"/>
                        <a:lumOff val="80000"/>
                      </a:schemeClr>
                    </a:solidFill>
                  </a:tcPr>
                </a:tc>
                <a:tc>
                  <a:txBody>
                    <a:bodyPr/>
                    <a:lstStyle/>
                    <a:p>
                      <a:pPr marL="0" marR="0" lvl="0" indent="0" algn="ctr" rtl="0">
                        <a:spcBef>
                          <a:spcPts val="0"/>
                        </a:spcBef>
                        <a:spcAft>
                          <a:spcPts val="0"/>
                        </a:spcAft>
                        <a:buNone/>
                      </a:pPr>
                      <a:r>
                        <a:rPr lang="en-US" sz="1300" b="0" i="0" dirty="0">
                          <a:latin typeface="Helvetica Neue"/>
                          <a:ea typeface="Helvetica Neue"/>
                          <a:cs typeface="Helvetica Neue"/>
                          <a:sym typeface="Helvetica Neue"/>
                        </a:rPr>
                        <a:t>18/11/2025 </a:t>
                      </a:r>
                      <a:endParaRPr lang="en-US" sz="1200" dirty="0"/>
                    </a:p>
                    <a:p>
                      <a:pPr marL="0" marR="0" lvl="0" indent="0" algn="ctr" rtl="0">
                        <a:spcBef>
                          <a:spcPts val="0"/>
                        </a:spcBef>
                        <a:spcAft>
                          <a:spcPts val="0"/>
                        </a:spcAft>
                        <a:buNone/>
                      </a:pPr>
                      <a:r>
                        <a:rPr lang="en-US" sz="1300" b="0" i="0" dirty="0">
                          <a:latin typeface="Helvetica Neue"/>
                          <a:ea typeface="Helvetica Neue"/>
                          <a:cs typeface="Helvetica Neue"/>
                          <a:sym typeface="Helvetica Neue"/>
                        </a:rPr>
                        <a:t>to</a:t>
                      </a:r>
                      <a:endParaRPr lang="en-US" sz="1200" dirty="0"/>
                    </a:p>
                    <a:p>
                      <a:pPr marL="0" marR="0" lvl="0" indent="0" algn="ctr" rtl="0">
                        <a:lnSpc>
                          <a:spcPct val="100000"/>
                        </a:lnSpc>
                        <a:spcBef>
                          <a:spcPts val="0"/>
                        </a:spcBef>
                        <a:spcAft>
                          <a:spcPts val="0"/>
                        </a:spcAft>
                        <a:buClr>
                          <a:schemeClr val="dk1"/>
                        </a:buClr>
                        <a:buSzPts val="1300"/>
                        <a:buFont typeface="Helvetica Neue"/>
                        <a:buNone/>
                      </a:pPr>
                      <a:r>
                        <a:rPr lang="en-US" sz="1300" b="0" i="0" dirty="0">
                          <a:latin typeface="Helvetica Neue"/>
                          <a:ea typeface="Helvetica Neue"/>
                          <a:cs typeface="Helvetica Neue"/>
                          <a:sym typeface="Helvetica Neue"/>
                        </a:rPr>
                        <a:t>21/11/2025</a:t>
                      </a:r>
                      <a:endParaRPr lang="en-US" sz="1200" dirty="0"/>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Verified the end-to-end loop</a:t>
                      </a:r>
                    </a:p>
                    <a:p>
                      <a:pPr marL="171450" indent="-171450">
                        <a:buFont typeface="Arial" panose="020B0604020202020204" pitchFamily="34" charset="0"/>
                        <a:buChar char="•"/>
                      </a:pPr>
                      <a:r>
                        <a:rPr lang="en-US" sz="1300" b="0" i="0" dirty="0">
                          <a:latin typeface="Helvetica" pitchFamily="2" charset="0"/>
                        </a:rPr>
                        <a:t>Tuned scoring to increment only when both eyes are closed.</a:t>
                      </a:r>
                    </a:p>
                    <a:p>
                      <a:pPr marL="171450" indent="-171450">
                        <a:buFont typeface="Arial" panose="020B0604020202020204" pitchFamily="34" charset="0"/>
                        <a:buChar char="•"/>
                      </a:pPr>
                      <a:r>
                        <a:rPr lang="en-US" sz="1300" b="0" i="0" dirty="0">
                          <a:latin typeface="Helvetica" pitchFamily="2" charset="0"/>
                        </a:rPr>
                        <a:t>Trigger alarm when score greater then 15</a:t>
                      </a:r>
                    </a:p>
                  </a:txBody>
                  <a:tcPr>
                    <a:solidFill>
                      <a:schemeClr val="accent6">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3451082333"/>
                  </a:ext>
                </a:extLst>
              </a:tr>
              <a:tr h="947733">
                <a:tc>
                  <a:txBody>
                    <a:bodyPr/>
                    <a:lstStyle/>
                    <a:p>
                      <a:pPr algn="ctr"/>
                      <a:r>
                        <a:rPr lang="en-US" sz="1300" b="0" i="0" dirty="0">
                          <a:latin typeface="Helvetica" pitchFamily="2" charset="0"/>
                        </a:rPr>
                        <a:t>15.</a:t>
                      </a:r>
                    </a:p>
                  </a:txBody>
                  <a:tcPr>
                    <a:solidFill>
                      <a:schemeClr val="accent5">
                        <a:lumMod val="20000"/>
                        <a:lumOff val="80000"/>
                      </a:schemeClr>
                    </a:solidFill>
                  </a:tcPr>
                </a:tc>
                <a:tc>
                  <a:txBody>
                    <a:bodyPr/>
                    <a:lstStyle/>
                    <a:p>
                      <a:pPr marL="0" marR="0" lvl="0" indent="0" algn="ctr" rtl="0">
                        <a:spcBef>
                          <a:spcPts val="0"/>
                        </a:spcBef>
                        <a:spcAft>
                          <a:spcPts val="0"/>
                        </a:spcAft>
                        <a:buNone/>
                      </a:pPr>
                      <a:r>
                        <a:rPr lang="en-US" sz="1300" b="0" i="0" dirty="0">
                          <a:latin typeface="Helvetica Neue"/>
                          <a:ea typeface="Helvetica Neue"/>
                          <a:cs typeface="Helvetica Neue"/>
                          <a:sym typeface="Helvetica Neue"/>
                        </a:rPr>
                        <a:t>21/11/2025 </a:t>
                      </a:r>
                      <a:endParaRPr lang="en-US" sz="1200" dirty="0"/>
                    </a:p>
                    <a:p>
                      <a:pPr marL="0" marR="0" lvl="0" indent="0" algn="ctr" rtl="0">
                        <a:spcBef>
                          <a:spcPts val="0"/>
                        </a:spcBef>
                        <a:spcAft>
                          <a:spcPts val="0"/>
                        </a:spcAft>
                        <a:buNone/>
                      </a:pPr>
                      <a:r>
                        <a:rPr lang="en-US" sz="1300" b="0" i="0" dirty="0">
                          <a:latin typeface="Helvetica Neue"/>
                          <a:ea typeface="Helvetica Neue"/>
                          <a:cs typeface="Helvetica Neue"/>
                          <a:sym typeface="Helvetica Neue"/>
                        </a:rPr>
                        <a:t>to</a:t>
                      </a:r>
                      <a:endParaRPr lang="en-US" sz="1200" dirty="0"/>
                    </a:p>
                    <a:p>
                      <a:pPr marL="0" marR="0" lvl="0" indent="0" algn="ctr" rtl="0">
                        <a:lnSpc>
                          <a:spcPct val="100000"/>
                        </a:lnSpc>
                        <a:spcBef>
                          <a:spcPts val="0"/>
                        </a:spcBef>
                        <a:spcAft>
                          <a:spcPts val="0"/>
                        </a:spcAft>
                        <a:buClr>
                          <a:schemeClr val="dk1"/>
                        </a:buClr>
                        <a:buSzPts val="1300"/>
                        <a:buFont typeface="Helvetica Neue"/>
                        <a:buNone/>
                      </a:pPr>
                      <a:r>
                        <a:rPr lang="en-US" sz="1300" b="0" i="0" dirty="0">
                          <a:latin typeface="Helvetica Neue"/>
                          <a:ea typeface="Helvetica Neue"/>
                          <a:cs typeface="Helvetica Neue"/>
                          <a:sym typeface="Helvetica Neue"/>
                        </a:rPr>
                        <a:t>25/11/2025</a:t>
                      </a:r>
                      <a:endParaRPr lang="en-US" sz="1200" dirty="0"/>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Created requirements.txt</a:t>
                      </a:r>
                    </a:p>
                    <a:p>
                      <a:pPr marL="171450" indent="-171450">
                        <a:buFont typeface="Arial" panose="020B0604020202020204" pitchFamily="34" charset="0"/>
                        <a:buChar char="•"/>
                      </a:pPr>
                      <a:r>
                        <a:rPr lang="en-US" sz="1300" b="0" i="0" dirty="0">
                          <a:latin typeface="Helvetica" pitchFamily="2" charset="0"/>
                        </a:rPr>
                        <a:t>Performed code review and identified few sub optimal implementation details.</a:t>
                      </a:r>
                    </a:p>
                  </a:txBody>
                  <a:tcPr>
                    <a:solidFill>
                      <a:schemeClr val="accent5">
                        <a:lumMod val="20000"/>
                        <a:lumOff val="80000"/>
                      </a:schemeClr>
                    </a:solidFill>
                  </a:tcPr>
                </a:tc>
                <a:tc>
                  <a:txBody>
                    <a:bodyPr/>
                    <a:lstStyle/>
                    <a:p>
                      <a:pPr marL="0" indent="0" algn="ctr">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extLst>
                  <a:ext uri="{0D108BD9-81ED-4DB2-BD59-A6C34878D82A}">
                    <a16:rowId xmlns:a16="http://schemas.microsoft.com/office/drawing/2014/main" val="1072130321"/>
                  </a:ext>
                </a:extLst>
              </a:tr>
            </a:tbl>
          </a:graphicData>
        </a:graphic>
      </p:graphicFrame>
    </p:spTree>
    <p:extLst>
      <p:ext uri="{BB962C8B-B14F-4D97-AF65-F5344CB8AC3E}">
        <p14:creationId xmlns:p14="http://schemas.microsoft.com/office/powerpoint/2010/main" val="2394857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3876-A327-89E8-5925-E417551A9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6DCD2-A236-23D9-E151-3D3D3A17C615}"/>
              </a:ext>
            </a:extLst>
          </p:cNvPr>
          <p:cNvSpPr>
            <a:spLocks noGrp="1"/>
          </p:cNvSpPr>
          <p:nvPr>
            <p:ph type="title"/>
          </p:nvPr>
        </p:nvSpPr>
        <p:spPr/>
        <p:txBody>
          <a:bodyPr/>
          <a:lstStyle/>
          <a:p>
            <a:r>
              <a:rPr lang="en-IN" sz="2400" dirty="0">
                <a:ea typeface="Palatino" pitchFamily="2" charset="77"/>
              </a:rPr>
              <a:t>Future Work</a:t>
            </a:r>
            <a:endParaRPr lang="en-US" dirty="0"/>
          </a:p>
        </p:txBody>
      </p:sp>
      <p:sp>
        <p:nvSpPr>
          <p:cNvPr id="4" name="Content Placeholder 2">
            <a:extLst>
              <a:ext uri="{FF2B5EF4-FFF2-40B4-BE49-F238E27FC236}">
                <a16:creationId xmlns:a16="http://schemas.microsoft.com/office/drawing/2014/main" id="{7660EB7E-41FA-08CF-E919-AE860B61B137}"/>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gn="l">
              <a:buFont typeface="Arial" panose="020B0604020202020204" pitchFamily="34" charset="0"/>
              <a:buChar char="•"/>
            </a:pPr>
            <a:r>
              <a:rPr lang="en-IN" b="0" i="0" dirty="0">
                <a:effectLst/>
                <a:latin typeface="Helvetica" panose="020B0604020202020204" pitchFamily="34" charset="0"/>
                <a:cs typeface="Helvetica" panose="020B0604020202020204" pitchFamily="34" charset="0"/>
              </a:rPr>
              <a:t>Yawning Detection (MAR): Mathematical formula, threshold optimization, 87%+ accuracy targets.</a:t>
            </a:r>
          </a:p>
          <a:p>
            <a:pPr algn="l">
              <a:buFont typeface="Arial" panose="020B0604020202020204" pitchFamily="34" charset="0"/>
              <a:buChar char="•"/>
            </a:pPr>
            <a:r>
              <a:rPr lang="en-IN" b="0" i="0" dirty="0">
                <a:effectLst/>
                <a:latin typeface="Helvetica" panose="020B0604020202020204" pitchFamily="34" charset="0"/>
                <a:cs typeface="Helvetica" panose="020B0604020202020204" pitchFamily="34" charset="0"/>
              </a:rPr>
              <a:t>5-Level Alert System: Progressive escalation from warning beep → emergency signal to vehicle ECU.</a:t>
            </a:r>
          </a:p>
          <a:p>
            <a:pPr algn="l"/>
            <a:r>
              <a:rPr lang="en-GB" dirty="0"/>
              <a:t>Infrared (IR) Integration: Incorporate support for infrared illumination cameras. This will resolve the current limitation of poor performance in low-light or night-time driving conditions.</a:t>
            </a:r>
          </a:p>
          <a:p>
            <a:pPr algn="l"/>
            <a:r>
              <a:rPr lang="en-GB" dirty="0"/>
              <a:t>Diversity</a:t>
            </a:r>
            <a:r>
              <a:rPr lang="en-GB" b="1" dirty="0"/>
              <a:t>:</a:t>
            </a:r>
            <a:r>
              <a:rPr lang="en-GB" dirty="0"/>
              <a:t> Expand the training dataset to include a wider variety of subjects, ethnic backgrounds, age groups, and difficult lighting conditions to reduce bias and improve real-world generalization.</a:t>
            </a:r>
          </a:p>
          <a:p>
            <a:pPr algn="l"/>
            <a:endParaRPr lang="en-GB" dirty="0"/>
          </a:p>
          <a:p>
            <a:pPr algn="l">
              <a:buFont typeface="Arial" panose="020B0604020202020204" pitchFamily="34" charset="0"/>
              <a:buChar char="•"/>
            </a:pPr>
            <a:endParaRPr lang="en-IN" b="0" i="0" dirty="0">
              <a:effectLst/>
              <a:latin typeface="Helvetica" panose="020B0604020202020204" pitchFamily="34" charset="0"/>
              <a:cs typeface="Helvetica" panose="020B0604020202020204" pitchFamily="34" charset="0"/>
            </a:endParaRPr>
          </a:p>
          <a:p>
            <a:pPr algn="l">
              <a:buFont typeface="Arial" panose="020B0604020202020204" pitchFamily="34" charset="0"/>
              <a:buChar char="•"/>
            </a:pPr>
            <a:endParaRPr lang="en-IN" b="0" i="0" dirty="0">
              <a:effectLst/>
              <a:latin typeface="Helvetica" panose="020B0604020202020204" pitchFamily="34" charset="0"/>
              <a:cs typeface="Helvetica" panose="020B0604020202020204" pitchFamily="34" charset="0"/>
            </a:endParaRPr>
          </a:p>
          <a:p>
            <a:pPr>
              <a:buNone/>
            </a:pPr>
            <a:br>
              <a:rPr lang="en-IN" dirty="0"/>
            </a:br>
            <a:endParaRPr lang="en-IN" sz="1800" dirty="0">
              <a:ea typeface="Palatino" pitchFamily="2" charset="77"/>
            </a:endParaRPr>
          </a:p>
        </p:txBody>
      </p:sp>
    </p:spTree>
    <p:extLst>
      <p:ext uri="{BB962C8B-B14F-4D97-AF65-F5344CB8AC3E}">
        <p14:creationId xmlns:p14="http://schemas.microsoft.com/office/powerpoint/2010/main" val="3116760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Plan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endParaRPr lang="en-IN" sz="1800" dirty="0">
              <a:ea typeface="Palatino" pitchFamily="2" charset="77"/>
            </a:endParaRPr>
          </a:p>
        </p:txBody>
      </p:sp>
      <p:sp>
        <p:nvSpPr>
          <p:cNvPr id="3" name="TextBox 2">
            <a:extLst>
              <a:ext uri="{FF2B5EF4-FFF2-40B4-BE49-F238E27FC236}">
                <a16:creationId xmlns:a16="http://schemas.microsoft.com/office/drawing/2014/main" id="{0730806F-5711-5BE6-2B62-070D7C4825F9}"/>
              </a:ext>
            </a:extLst>
          </p:cNvPr>
          <p:cNvSpPr txBox="1"/>
          <p:nvPr/>
        </p:nvSpPr>
        <p:spPr>
          <a:xfrm>
            <a:off x="3510651" y="5534024"/>
            <a:ext cx="2122697" cy="276999"/>
          </a:xfrm>
          <a:prstGeom prst="rect">
            <a:avLst/>
          </a:prstGeom>
          <a:noFill/>
        </p:spPr>
        <p:txBody>
          <a:bodyPr wrap="none" rtlCol="0">
            <a:spAutoFit/>
          </a:bodyPr>
          <a:lstStyle/>
          <a:p>
            <a:r>
              <a:rPr lang="en-GB" sz="1200" dirty="0">
                <a:latin typeface="Helvetica" panose="020B0604020202020204" pitchFamily="34" charset="0"/>
                <a:cs typeface="Helvetica" panose="020B0604020202020204" pitchFamily="34" charset="0"/>
              </a:rPr>
              <a:t>Figure 8 : (Project Timeline) </a:t>
            </a:r>
            <a:endParaRPr lang="en-IN" sz="1200" dirty="0">
              <a:latin typeface="Helvetica" panose="020B0604020202020204" pitchFamily="34" charset="0"/>
              <a:cs typeface="Helvetica" panose="020B0604020202020204" pitchFamily="34" charset="0"/>
            </a:endParaRPr>
          </a:p>
        </p:txBody>
      </p:sp>
      <p:pic>
        <p:nvPicPr>
          <p:cNvPr id="5" name="Picture 4">
            <a:extLst>
              <a:ext uri="{FF2B5EF4-FFF2-40B4-BE49-F238E27FC236}">
                <a16:creationId xmlns:a16="http://schemas.microsoft.com/office/drawing/2014/main" id="{286C7FEB-CDFC-3899-23A5-4AFE13265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188" y="1323976"/>
            <a:ext cx="8328574" cy="4210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8162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5"/>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References</a:t>
            </a:r>
            <a:endParaRPr/>
          </a:p>
        </p:txBody>
      </p:sp>
      <p:sp>
        <p:nvSpPr>
          <p:cNvPr id="187" name="Google Shape;187;p25"/>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[1] T. Gautam, S. Sharma, S. Mishra, J. Rajora, and K. Ahlawat, "Novel CNN Based Model Using LSTM for Driver Drowsiness Detection," International Journal for Research in Applied Science and Engineering Technology, vol. 13, no. 5,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[2] G. S. Krishna, S. Pandey, S. Parmar, and V. Shah, "Vision Transformers and YoloV5 based Driver Drowsiness Detection," arXiv:2209.01401, 2022.</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[3] T. S. Aruna, G. Sai Krishna, S. Sonal, S. Sonal, and S. Suhas, "Neural Nap Guard: CNN-Driven Drowsiness Detection Using OpenCV," International Journal of Scientific Research and Engineering Trends, vol. 11, no. 2, pp. 146–155, Mar.–Apr.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[4] T. V. Khoa, T. V. Huong, T. P. Quang, and T. H. Minh, "Privacy-Preserving Driver Drowsiness Detection with Spatial Self-Attention and Federated Learning," arXiv:2508.00287,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[5] O. F. Hassan, A. Y. Elghamrawy, M. M. Moussa, and N. Salah, "Real-time driver drowsiness detection using transformer architectures," Nature, vol. s41598-025-02111-x,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[6] Arif, Z. Yang, N. Lu, and Z. Zhang, "Driving drowsiness detection using spectral signatures of EEG with single-channel feature selection," Frontiers in Physiology, vol. 14, 2023.</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[7] Bakheet, A. Al-Hamadi, and A. Alanazi, "An effective approach for real-time drowsy driving prediction using quantized fisher-Gabor features and latent-dynamic conditional random fields," Frontiers in Computer Science, vol. 7, May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1200"/>
              </a:spcAft>
              <a:buNone/>
            </a:pPr>
            <a:r>
              <a:rPr lang="en-US">
                <a:solidFill>
                  <a:schemeClr val="dk1"/>
                </a:solidFill>
                <a:latin typeface="Helvetica Neue"/>
                <a:ea typeface="Helvetica Neue"/>
                <a:cs typeface="Helvetica Neue"/>
                <a:sym typeface="Helvetica Neue"/>
              </a:rPr>
              <a:t>[8] S. Cao, P. Feng, W. Kang, Z. Chen, and B. Wang, "Optimized driver fatigue detection method using multimodal neural networks," Nature, vol. s41598-025-86709-1, 2025.</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6"/>
          <p:cNvSpPr txBox="1">
            <a:spLocks noGrp="1"/>
          </p:cNvSpPr>
          <p:nvPr>
            <p:ph type="title"/>
          </p:nvPr>
        </p:nvSpPr>
        <p:spPr>
          <a:xfrm>
            <a:off x="40640" y="30480"/>
            <a:ext cx="8328752" cy="694064"/>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8" lvl="0" indent="0" algn="l" rtl="0">
              <a:spcBef>
                <a:spcPts val="0"/>
              </a:spcBef>
              <a:spcAft>
                <a:spcPts val="0"/>
              </a:spcAft>
              <a:buNone/>
            </a:pPr>
            <a:r>
              <a:rPr lang="en-US" sz="2400"/>
              <a:t>References </a:t>
            </a:r>
            <a:r>
              <a:rPr lang="en-US" sz="2400" b="0"/>
              <a:t>(cont…)</a:t>
            </a:r>
            <a:endParaRPr/>
          </a:p>
        </p:txBody>
      </p:sp>
      <p:sp>
        <p:nvSpPr>
          <p:cNvPr id="193" name="Google Shape;193;p26"/>
          <p:cNvSpPr txBox="1"/>
          <p:nvPr/>
        </p:nvSpPr>
        <p:spPr>
          <a:xfrm>
            <a:off x="77118" y="804231"/>
            <a:ext cx="8956714" cy="5794873"/>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[9] J.D. Flrez et al., "CNN-based Eye Region Monitoring for Embedded Drowsiness Detection," PMC, 2024. [Online]. Available: https://pmc.ncbi.nlm.nih.gov/articles/PMC11644966/</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[10] J. D. Flrez, A. M. Sánchez, M. C. Fernández, and R. D. Bárcena, "CNN-based Eye Region Monitoring for Embedded Drowsiness Detection," PMC, 2024.</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[11] Y. Moujahid, M. El Hassouni, M. E. El Alami, and A. Amine, "Driver monitoring system with infrared imaging," Expert Systems with Applications, 2021.</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[12] T. V. Khoa, T. V. Huong, T. P. Quang, and T. H. Minh, "Privacy-Preserving Driver Drowsiness Detection with Spatial Self-Attention and Federated Learning," arXiv:2508.00287,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[13] D. Kim, I. Lee, H. Kwon, J. Lee, and H. S. Shin, "Face &amp; Eye Detection Using IR Cameras for Driver Monitoring," IEEE Access, vol. xx, 2024.</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[14]  I. Lee, J. Lee, and H. S. Shin, "HOGLBP Features and SVM for Drowsiness Detection," Scientific Reports, vol. xx, 2023.</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[15] DriCare System, "MC-KCF Tracking for Drowsiness Detection,"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[16] D. Kim, I. Lee, H. Kwon, J. Lee, and H. S. Shin, "Improved CAMShift &amp; HSV Segmentation for Driver Monitoring," Nature, 2025.</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None/>
            </a:pPr>
            <a:r>
              <a:rPr lang="en-US">
                <a:solidFill>
                  <a:schemeClr val="dk1"/>
                </a:solidFill>
                <a:latin typeface="Helvetica Neue"/>
                <a:ea typeface="Helvetica Neue"/>
                <a:cs typeface="Helvetica Neue"/>
                <a:sym typeface="Helvetica Neue"/>
              </a:rPr>
              <a:t>[17] Chongqing Jiaotong University, "Lightweight YOLOv5s + 3D facial keypoints (Attention Mesh)," Sensors (MDPI), vol. xx, 2023.</a:t>
            </a:r>
            <a:endParaRPr>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1200"/>
              </a:spcAft>
              <a:buClr>
                <a:schemeClr val="dk1"/>
              </a:buClr>
              <a:buSzPts val="1100"/>
              <a:buFont typeface="Arial"/>
              <a:buNone/>
            </a:pP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7"/>
          <p:cNvSpPr txBox="1">
            <a:spLocks noGrp="1"/>
          </p:cNvSpPr>
          <p:nvPr>
            <p:ph type="title"/>
          </p:nvPr>
        </p:nvSpPr>
        <p:spPr>
          <a:xfrm>
            <a:off x="40640" y="30480"/>
            <a:ext cx="8328900" cy="694200"/>
          </a:xfrm>
          <a:prstGeom prst="rect">
            <a:avLst/>
          </a:prstGeom>
          <a:solidFill>
            <a:srgbClr val="0037A4"/>
          </a:solidFill>
          <a:ln w="317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90487" lvl="0" indent="0" algn="l" rtl="0">
              <a:spcBef>
                <a:spcPts val="0"/>
              </a:spcBef>
              <a:spcAft>
                <a:spcPts val="0"/>
              </a:spcAft>
              <a:buNone/>
            </a:pPr>
            <a:r>
              <a:rPr lang="en-US" sz="2400"/>
              <a:t>References </a:t>
            </a:r>
            <a:r>
              <a:rPr lang="en-US" sz="2400" b="0"/>
              <a:t>(cont…)</a:t>
            </a:r>
            <a:endParaRPr sz="1800"/>
          </a:p>
        </p:txBody>
      </p:sp>
      <p:sp>
        <p:nvSpPr>
          <p:cNvPr id="199" name="Google Shape;199;p27"/>
          <p:cNvSpPr txBox="1"/>
          <p:nvPr/>
        </p:nvSpPr>
        <p:spPr>
          <a:xfrm>
            <a:off x="77118" y="804231"/>
            <a:ext cx="8956800" cy="5794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latin typeface="Helvetica Neue"/>
                <a:ea typeface="Helvetica Neue"/>
                <a:cs typeface="Helvetica Neue"/>
                <a:sym typeface="Helvetica Neue"/>
              </a:rPr>
              <a:t>[18] D. Kim, I. Lee, H. Kwon, J. Lee, and H. S. Shin, "HOGLBP Features and SVM for Drowsiness Detection," Scientific Reports, vol. xx, 2023.</a:t>
            </a:r>
            <a:endParaRPr sz="1300">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[19]   DriCare System, "MC-KCF Tracking for Drowsiness Detection," 2025.</a:t>
            </a:r>
            <a:endParaRPr sz="1300">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[20]  D. Kim, I. Lee, H. Kwon, J. Lee, and H. S. Shin, "Improved CAMShift &amp; HSV Segmentation for Driver Monitoring," Nature, 2025.</a:t>
            </a:r>
            <a:endParaRPr sz="1300">
              <a:solidFill>
                <a:schemeClr val="dk1"/>
              </a:solidFill>
              <a:latin typeface="Helvetica Neue"/>
              <a:ea typeface="Helvetica Neue"/>
              <a:cs typeface="Helvetica Neue"/>
              <a:sym typeface="Helvetica Neue"/>
            </a:endParaRPr>
          </a:p>
          <a:p>
            <a:pPr marL="0" lvl="0" indent="0" algn="l" rtl="0">
              <a:lnSpc>
                <a:spcPct val="115000"/>
              </a:lnSpc>
              <a:spcBef>
                <a:spcPts val="1200"/>
              </a:spcBef>
              <a:spcAft>
                <a:spcPts val="0"/>
              </a:spcAft>
              <a:buClr>
                <a:schemeClr val="dk1"/>
              </a:buClr>
              <a:buSzPts val="1100"/>
              <a:buFont typeface="Arial"/>
              <a:buNone/>
            </a:pPr>
            <a:r>
              <a:rPr lang="en-US" sz="1300">
                <a:solidFill>
                  <a:schemeClr val="dk1"/>
                </a:solidFill>
                <a:latin typeface="Helvetica Neue"/>
                <a:ea typeface="Helvetica Neue"/>
                <a:cs typeface="Helvetica Neue"/>
                <a:sym typeface="Helvetica Neue"/>
              </a:rPr>
              <a:t>[21] Dataset link : </a:t>
            </a:r>
            <a:r>
              <a:rPr lang="en-US" sz="1300" u="sng">
                <a:solidFill>
                  <a:schemeClr val="hlink"/>
                </a:solidFill>
                <a:latin typeface="Helvetica Neue"/>
                <a:ea typeface="Helvetica Neue"/>
                <a:cs typeface="Helvetica Neue"/>
                <a:sym typeface="Helvetica Neue"/>
                <a:hlinkClick r:id="rId3"/>
              </a:rPr>
              <a:t>https://www.kaggle.com/datasets/imadeddinedjerarda/mrl-eye-dataset</a:t>
            </a:r>
            <a:endParaRPr sz="1300">
              <a:solidFill>
                <a:schemeClr val="dk1"/>
              </a:solidFill>
              <a:latin typeface="Helvetica Neue"/>
              <a:ea typeface="Helvetica Neue"/>
              <a:cs typeface="Helvetica Neue"/>
              <a:sym typeface="Helvetica Neue"/>
            </a:endParaRPr>
          </a:p>
          <a:p>
            <a:pPr marL="0" marR="0" lvl="0" indent="0" algn="just" rtl="0">
              <a:lnSpc>
                <a:spcPct val="150000"/>
              </a:lnSpc>
              <a:spcBef>
                <a:spcPts val="1200"/>
              </a:spcBef>
              <a:spcAft>
                <a:spcPts val="0"/>
              </a:spcAft>
              <a:buClr>
                <a:schemeClr val="dk1"/>
              </a:buClr>
              <a:buSzPts val="1750"/>
              <a:buFont typeface="Arial"/>
              <a:buNone/>
            </a:pPr>
            <a:endParaRPr sz="1300">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p:nvPr/>
        </p:nvSpPr>
        <p:spPr>
          <a:xfrm>
            <a:off x="77118" y="804231"/>
            <a:ext cx="8956714" cy="5960125"/>
          </a:xfrm>
          <a:prstGeom prst="rect">
            <a:avLst/>
          </a:prstGeom>
          <a:noFill/>
          <a:ln>
            <a:noFill/>
          </a:ln>
        </p:spPr>
        <p:txBody>
          <a:bodyPr spcFirstLastPara="1" wrap="square" lIns="91425" tIns="45700" rIns="91425" bIns="45700" anchor="t" anchorCtr="0">
            <a:noAutofit/>
          </a:bodyPr>
          <a:lstStyle/>
          <a:p>
            <a:pPr marL="95250" marR="0" lvl="0" indent="0" algn="just" rtl="0">
              <a:lnSpc>
                <a:spcPct val="150000"/>
              </a:lnSpc>
              <a:spcBef>
                <a:spcPts val="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just" rtl="0">
              <a:lnSpc>
                <a:spcPct val="150000"/>
              </a:lnSpc>
              <a:spcBef>
                <a:spcPts val="490"/>
              </a:spcBef>
              <a:spcAft>
                <a:spcPts val="0"/>
              </a:spcAft>
              <a:buClr>
                <a:schemeClr val="dk1"/>
              </a:buClr>
              <a:buSzPts val="1750"/>
              <a:buFont typeface="Arial"/>
              <a:buNone/>
            </a:pPr>
            <a:endParaRPr sz="1400">
              <a:solidFill>
                <a:schemeClr val="dk1"/>
              </a:solidFill>
              <a:latin typeface="Helvetica Neue"/>
              <a:ea typeface="Helvetica Neue"/>
              <a:cs typeface="Helvetica Neue"/>
              <a:sym typeface="Helvetica Neue"/>
            </a:endParaRPr>
          </a:p>
          <a:p>
            <a:pPr marL="95250" marR="0" lvl="0" indent="0" algn="ctr" rtl="0">
              <a:lnSpc>
                <a:spcPct val="150000"/>
              </a:lnSpc>
              <a:spcBef>
                <a:spcPts val="700"/>
              </a:spcBef>
              <a:spcAft>
                <a:spcPts val="0"/>
              </a:spcAft>
              <a:buClr>
                <a:schemeClr val="dk1"/>
              </a:buClr>
              <a:buSzPts val="2500"/>
              <a:buFont typeface="Arial"/>
              <a:buNone/>
            </a:pPr>
            <a:endParaRPr sz="2000" b="1">
              <a:solidFill>
                <a:schemeClr val="dk1"/>
              </a:solidFill>
              <a:latin typeface="Helvetica Neue"/>
              <a:ea typeface="Helvetica Neue"/>
              <a:cs typeface="Helvetica Neue"/>
              <a:sym typeface="Helvetica Neue"/>
            </a:endParaRPr>
          </a:p>
          <a:p>
            <a:pPr marL="95250" marR="0" lvl="0" indent="0" algn="ctr" rtl="0">
              <a:lnSpc>
                <a:spcPct val="150000"/>
              </a:lnSpc>
              <a:spcBef>
                <a:spcPts val="700"/>
              </a:spcBef>
              <a:spcAft>
                <a:spcPts val="0"/>
              </a:spcAft>
              <a:buClr>
                <a:schemeClr val="dk1"/>
              </a:buClr>
              <a:buSzPts val="2500"/>
              <a:buFont typeface="Arial"/>
              <a:buNone/>
            </a:pPr>
            <a:r>
              <a:rPr lang="en-US" sz="2000" b="1">
                <a:solidFill>
                  <a:schemeClr val="dk1"/>
                </a:solidFill>
                <a:latin typeface="Helvetica Neue"/>
                <a:ea typeface="Helvetica Neue"/>
                <a:cs typeface="Helvetica Neue"/>
                <a:sym typeface="Helvetica Neue"/>
              </a:rPr>
              <a:t>Thanks</a:t>
            </a:r>
            <a:r>
              <a:rPr lang="en-US" sz="1400">
                <a:solidFill>
                  <a:schemeClr val="dk1"/>
                </a:solidFill>
                <a:latin typeface="Helvetica Neue"/>
                <a:ea typeface="Helvetica Neue"/>
                <a:cs typeface="Helvetica Neue"/>
                <a:sym typeface="Helvetica Neue"/>
              </a:rPr>
              <a:t>.</a:t>
            </a:r>
            <a:endParaRPr/>
          </a:p>
        </p:txBody>
      </p:sp>
      <p:pic>
        <p:nvPicPr>
          <p:cNvPr id="205" name="Google Shape;205;p28" descr="🙏"/>
          <p:cNvPicPr preferRelativeResize="0"/>
          <p:nvPr/>
        </p:nvPicPr>
        <p:blipFill rotWithShape="1">
          <a:blip r:embed="rId3">
            <a:alphaModFix/>
          </a:blip>
          <a:srcRect/>
          <a:stretch/>
        </p:blipFill>
        <p:spPr>
          <a:xfrm>
            <a:off x="4189164" y="2663328"/>
            <a:ext cx="765672" cy="765672"/>
          </a:xfrm>
          <a:prstGeom prst="rect">
            <a:avLst/>
          </a:prstGeom>
          <a:noFill/>
          <a:ln>
            <a:noFill/>
          </a:ln>
        </p:spPr>
      </p:pic>
    </p:spTree>
  </p:cSld>
  <p:clrMapOvr>
    <a:masterClrMapping/>
  </p:clrMapOvr>
</p:sld>
</file>

<file path=ppt/theme/theme1.xml><?xml version="1.0" encoding="utf-8"?>
<a:theme xmlns:a="http://schemas.openxmlformats.org/drawingml/2006/main"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4168</Words>
  <Application>Microsoft Office PowerPoint</Application>
  <PresentationFormat>On-screen Show (4:3)</PresentationFormat>
  <Paragraphs>533</Paragraphs>
  <Slides>35</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Roboto</vt:lpstr>
      <vt:lpstr>Palatino</vt:lpstr>
      <vt:lpstr>Helvetica</vt:lpstr>
      <vt:lpstr>Tahoma</vt:lpstr>
      <vt:lpstr>Times New Roman</vt:lpstr>
      <vt:lpstr>Helvetica Neue</vt:lpstr>
      <vt:lpstr>Cardo</vt:lpstr>
      <vt:lpstr>1_os-8</vt:lpstr>
      <vt:lpstr>Real Time Driver Drowsiness Detection System</vt:lpstr>
      <vt:lpstr>Outline</vt:lpstr>
      <vt:lpstr>Introduction</vt:lpstr>
      <vt:lpstr>Problem Statement</vt:lpstr>
      <vt:lpstr>Objectives</vt:lpstr>
      <vt:lpstr>Literature Review</vt:lpstr>
      <vt:lpstr>Literature Review (cont…)</vt:lpstr>
      <vt:lpstr>Literature Review (cont…)</vt:lpstr>
      <vt:lpstr>Literature Review (cont…)</vt:lpstr>
      <vt:lpstr>Literature Review (cont…)</vt:lpstr>
      <vt:lpstr>Work Done (after Mid-Term Evaluation)</vt:lpstr>
      <vt:lpstr>Project Design</vt:lpstr>
      <vt:lpstr>Project Design (cont…)</vt:lpstr>
      <vt:lpstr>Project Design (cont…)</vt:lpstr>
      <vt:lpstr>Project Design (cont…)</vt:lpstr>
      <vt:lpstr>Tools, Technologies and Languages</vt:lpstr>
      <vt:lpstr>Tools, Technologies and Languages</vt:lpstr>
      <vt:lpstr>Dataset</vt:lpstr>
      <vt:lpstr>Implementation</vt:lpstr>
      <vt:lpstr>Implementation</vt:lpstr>
      <vt:lpstr>Implementation(cont…)</vt:lpstr>
      <vt:lpstr>Experimental Results and Evaluation (cont…)</vt:lpstr>
      <vt:lpstr>Experimental Results and Evaluation (cont…)</vt:lpstr>
      <vt:lpstr>Experimental Results and Evaluation (cont…)</vt:lpstr>
      <vt:lpstr>Key Learnings</vt:lpstr>
      <vt:lpstr>Work Contribution and Attendance</vt:lpstr>
      <vt:lpstr>Supervisor Interactions </vt:lpstr>
      <vt:lpstr>Supervisor Interactions (cont…)</vt:lpstr>
      <vt:lpstr>Supervisor Interactions (cont…)</vt:lpstr>
      <vt:lpstr>Future Work</vt:lpstr>
      <vt:lpstr>Project Plan</vt:lpstr>
      <vt:lpstr>References</vt:lpstr>
      <vt:lpstr>References (cont…)</vt:lpstr>
      <vt:lpstr>References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Marilyn Turnamian</dc:creator>
  <cp:lastModifiedBy>Tushar .</cp:lastModifiedBy>
  <cp:revision>8</cp:revision>
  <dcterms:created xsi:type="dcterms:W3CDTF">2008-07-20T15:16:37Z</dcterms:created>
  <dcterms:modified xsi:type="dcterms:W3CDTF">2025-12-07T18:15:01Z</dcterms:modified>
</cp:coreProperties>
</file>